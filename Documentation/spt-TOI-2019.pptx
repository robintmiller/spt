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1"/>
  </p:sldMasterIdLst>
  <p:notesMasterIdLst>
    <p:notesMasterId r:id="rId34"/>
  </p:notesMasterIdLst>
  <p:sldIdLst>
    <p:sldId id="303" r:id="rId2"/>
    <p:sldId id="304" r:id="rId3"/>
    <p:sldId id="335" r:id="rId4"/>
    <p:sldId id="321" r:id="rId5"/>
    <p:sldId id="305" r:id="rId6"/>
    <p:sldId id="382" r:id="rId7"/>
    <p:sldId id="429" r:id="rId8"/>
    <p:sldId id="431" r:id="rId9"/>
    <p:sldId id="432" r:id="rId10"/>
    <p:sldId id="435" r:id="rId11"/>
    <p:sldId id="433" r:id="rId12"/>
    <p:sldId id="434" r:id="rId13"/>
    <p:sldId id="430" r:id="rId14"/>
    <p:sldId id="436" r:id="rId15"/>
    <p:sldId id="437" r:id="rId16"/>
    <p:sldId id="406" r:id="rId17"/>
    <p:sldId id="407" r:id="rId18"/>
    <p:sldId id="408" r:id="rId19"/>
    <p:sldId id="409" r:id="rId20"/>
    <p:sldId id="414" r:id="rId21"/>
    <p:sldId id="415" r:id="rId22"/>
    <p:sldId id="416" r:id="rId23"/>
    <p:sldId id="413" r:id="rId24"/>
    <p:sldId id="410" r:id="rId25"/>
    <p:sldId id="417" r:id="rId26"/>
    <p:sldId id="418" r:id="rId27"/>
    <p:sldId id="419" r:id="rId28"/>
    <p:sldId id="421" r:id="rId29"/>
    <p:sldId id="411" r:id="rId30"/>
    <p:sldId id="412" r:id="rId31"/>
    <p:sldId id="420" r:id="rId32"/>
    <p:sldId id="32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0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4F35A-7390-454B-9C83-6A707706E67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3E33D-6838-4ED6-9C66-50E6073A7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6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35DCE8-1E24-44BA-9AD5-1C7A7840FBE4}" type="slidenum">
              <a:rPr lang="en-US" sz="1200" smtClean="0"/>
              <a:pPr eaLnBrk="1" hangingPunct="1"/>
              <a:t>1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3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13E33D-6838-4ED6-9C66-50E6073A78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15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13E33D-6838-4ED6-9C66-50E6073A78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3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45AB-97C0-43EA-9115-F7C086EEC092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5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F62B2-DDA4-4E03-B0BD-A6844BDD10B1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3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A865-503D-45BA-AC01-3C5DB587B9B5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4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8700-0299-48EE-83D6-E01792897221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6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6238-6C0E-4152-AC2D-1111D70EB0A2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8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230A-3E33-4C39-9EDF-CFA19776FC0F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3D80-0888-4C32-85BB-50418FB7F873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0112-09D1-4973-AACF-B0FF1F6C6F4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2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158D-3931-4673-BDAD-33693D4E32BD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0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3F16A-49A3-4AE1-B061-04296933FEE4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6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74E1E-2990-4EC9-A1C7-919B45C910D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0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4450"/>
            <a:ext cx="10515600" cy="458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D1F39-A996-4BF6-9DB2-C159DD47E85B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8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inTMiller/spt" TargetMode="External"/><Relationship Id="rId2" Type="http://schemas.openxmlformats.org/officeDocument/2006/relationships/hyperlink" Target="https://github.com/RobinTMiller/d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windows-hardware/drivers/storage/offloaded-data-transfe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 marL="342900" indent="-342900"/>
            <a:br>
              <a:rPr lang="en-US" sz="3000" dirty="0"/>
            </a:br>
            <a:r>
              <a:rPr lang="en-US" sz="3000" dirty="0"/>
              <a:t>SCSI Pass-Through (SPT)</a:t>
            </a:r>
            <a:br>
              <a:rPr lang="en-US" sz="3000" dirty="0"/>
            </a:br>
            <a:r>
              <a:rPr lang="en-US" sz="3000" dirty="0"/>
              <a:t>2019 Update (TOI)</a:t>
            </a:r>
            <a:br>
              <a:rPr lang="en-US" sz="3000" dirty="0"/>
            </a:br>
            <a:r>
              <a:rPr lang="en-US" sz="3000" dirty="0"/>
              <a:t>by</a:t>
            </a:r>
            <a:br>
              <a:rPr lang="en-US" sz="3000" dirty="0"/>
            </a:br>
            <a:r>
              <a:rPr lang="en-US" sz="3000" dirty="0"/>
              <a:t>Robin T. Miller</a:t>
            </a:r>
            <a:br>
              <a:rPr lang="en-US" sz="3000" dirty="0"/>
            </a:br>
            <a:r>
              <a:rPr lang="en-US" sz="2200" dirty="0"/>
              <a:t>Robin.Miller@hpe.com</a:t>
            </a:r>
            <a:endParaRPr lang="en-US" sz="3000" dirty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 bwMode="auto"/>
        <p:txBody>
          <a:bodyPr/>
          <a:lstStyle/>
          <a:p>
            <a:pPr eaLnBrk="1" hangingPunct="1"/>
            <a:r>
              <a:rPr lang="en-US" dirty="0"/>
              <a:t>Updated: September 23</a:t>
            </a:r>
            <a:r>
              <a:rPr lang="en-US" baseline="30000" dirty="0"/>
              <a:t>rd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271891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7BDC79-4520-42A6-804C-2189046D3810}" type="slidenum">
              <a:rPr lang="en-US" sz="1000">
                <a:solidFill>
                  <a:schemeClr val="accent1"/>
                </a:solidFill>
              </a:rPr>
              <a:pPr eaLnBrk="1" hangingPunct="1"/>
              <a:t>2</a:t>
            </a:fld>
            <a:endParaRPr lang="en-US" sz="1000">
              <a:solidFill>
                <a:schemeClr val="accent1"/>
              </a:solidFill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Agenda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2704" y="1314450"/>
            <a:ext cx="9561095" cy="4586288"/>
          </a:xfrm>
        </p:spPr>
        <p:txBody>
          <a:bodyPr/>
          <a:lstStyle/>
          <a:p>
            <a:pPr eaLnBrk="1" hangingPunct="1"/>
            <a:r>
              <a:rPr lang="en-US" dirty="0"/>
              <a:t>What is SPT?</a:t>
            </a:r>
          </a:p>
          <a:p>
            <a:pPr eaLnBrk="1" hangingPunct="1"/>
            <a:r>
              <a:rPr lang="en-US" dirty="0"/>
              <a:t>Why use SPT?</a:t>
            </a:r>
          </a:p>
          <a:p>
            <a:pPr eaLnBrk="1" hangingPunct="1"/>
            <a:r>
              <a:rPr lang="en-US" dirty="0"/>
              <a:t>SPT Features</a:t>
            </a:r>
          </a:p>
          <a:p>
            <a:pPr eaLnBrk="1" hangingPunct="1"/>
            <a:r>
              <a:rPr lang="en-US" dirty="0"/>
              <a:t>New Features</a:t>
            </a:r>
          </a:p>
          <a:p>
            <a:pPr eaLnBrk="1" hangingPunct="1"/>
            <a:r>
              <a:rPr lang="en-US" dirty="0"/>
              <a:t>SPT Roadmap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spt</a:t>
            </a:r>
            <a:r>
              <a:rPr lang="en-US" dirty="0"/>
              <a:t> TOI 2019</a:t>
            </a:r>
          </a:p>
        </p:txBody>
      </p:sp>
    </p:spTree>
    <p:extLst>
      <p:ext uri="{BB962C8B-B14F-4D97-AF65-F5344CB8AC3E}">
        <p14:creationId xmlns:p14="http://schemas.microsoft.com/office/powerpoint/2010/main" val="2597206602"/>
      </p:ext>
    </p:extLst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Pass-Through (SPT) 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854" y="1314450"/>
            <a:ext cx="9357946" cy="4586288"/>
          </a:xfrm>
        </p:spPr>
        <p:txBody>
          <a:bodyPr>
            <a:normAutofit/>
          </a:bodyPr>
          <a:lstStyle/>
          <a:p>
            <a:r>
              <a:rPr lang="en-US" dirty="0"/>
              <a:t>SPT allows SCSI testing via the SCSI pass-through API</a:t>
            </a:r>
          </a:p>
          <a:p>
            <a:pPr lvl="1"/>
            <a:r>
              <a:rPr lang="en-US" dirty="0"/>
              <a:t>This is an OS specific user level API for issuing SCSI operations.</a:t>
            </a:r>
          </a:p>
          <a:p>
            <a:r>
              <a:rPr lang="en-US" dirty="0"/>
              <a:t>Supported on most OS’s, except OSX (lacks SCSI API)</a:t>
            </a:r>
          </a:p>
          <a:p>
            <a:r>
              <a:rPr lang="en-US" dirty="0"/>
              <a:t>A fair amount of code originated from </a:t>
            </a:r>
            <a:r>
              <a:rPr lang="en-US" dirty="0">
                <a:hlinkClick r:id="rId2"/>
              </a:rPr>
              <a:t>DT tool</a:t>
            </a:r>
            <a:endParaRPr lang="en-US" dirty="0"/>
          </a:p>
          <a:p>
            <a:r>
              <a:rPr lang="en-US" dirty="0"/>
              <a:t>SPT is open source, and is available on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https://github.com/RobinTMiller/spt</a:t>
            </a:r>
            <a:endParaRPr lang="en-US" dirty="0"/>
          </a:p>
          <a:p>
            <a:pPr lvl="2"/>
            <a:r>
              <a:rPr lang="en-US" dirty="0"/>
              <a:t>Note: </a:t>
            </a:r>
            <a:r>
              <a:rPr lang="en-US" dirty="0" err="1"/>
              <a:t>Github</a:t>
            </a:r>
            <a:r>
              <a:rPr lang="en-US" dirty="0"/>
              <a:t> does NOT include Vendor Unique (VU) extensions.</a:t>
            </a:r>
          </a:p>
          <a:p>
            <a:r>
              <a:rPr lang="en-US" dirty="0"/>
              <a:t>Storage Enclosure Services (SES) support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This SPT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910" y="1314450"/>
            <a:ext cx="9482889" cy="4586288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Advanced Testing Requires Advanced Test Tools</a:t>
            </a:r>
            <a:endParaRPr lang="en-US" dirty="0"/>
          </a:p>
          <a:p>
            <a:r>
              <a:rPr lang="en-US" dirty="0"/>
              <a:t>Key SPT Features: (one tool versus many)</a:t>
            </a:r>
          </a:p>
          <a:p>
            <a:pPr lvl="1"/>
            <a:r>
              <a:rPr lang="en-US" dirty="0"/>
              <a:t>Specifically designed for SCSI testing</a:t>
            </a:r>
          </a:p>
          <a:p>
            <a:pPr lvl="1"/>
            <a:r>
              <a:rPr lang="en-US" dirty="0"/>
              <a:t>Supports multiple jobs/threads for high load &amp; stress</a:t>
            </a:r>
          </a:p>
          <a:p>
            <a:pPr lvl="1"/>
            <a:r>
              <a:rPr lang="en-US" dirty="0"/>
              <a:t>Supports JavaScript Object Notation (JSON)</a:t>
            </a:r>
          </a:p>
          <a:p>
            <a:r>
              <a:rPr lang="en-US" dirty="0">
                <a:sym typeface="Wingdings" panose="05000000000000000000" pitchFamily="2" charset="2"/>
              </a:rPr>
              <a:t>Useful for developers, automation, and support.</a:t>
            </a:r>
          </a:p>
          <a:p>
            <a:r>
              <a:rPr lang="en-US" dirty="0">
                <a:sym typeface="Wingdings" panose="05000000000000000000" pitchFamily="2" charset="2"/>
              </a:rPr>
              <a:t>This TOI will hopefully whet your appetite!</a:t>
            </a:r>
          </a:p>
          <a:p>
            <a:r>
              <a:rPr lang="en-US" dirty="0"/>
              <a:t>We have internal developer (Robin) and support!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721" y="1281112"/>
            <a:ext cx="8498757" cy="504348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Send/Receive Diagnostic Support (added for SES pages)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I/O Ranges (for read/write/verify operations)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I/O Modes (copy/verify/mirror operations)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Multiple Slices (threads for higher load &amp; stress)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Extended Copy Operations (two methods).</a:t>
            </a:r>
          </a:p>
          <a:p>
            <a:pPr>
              <a:spcBef>
                <a:spcPts val="600"/>
              </a:spcBef>
            </a:pPr>
            <a:r>
              <a:rPr lang="en-US" dirty="0"/>
              <a:t>Triage/Recovery Support (detailed errors, recovery,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>
              <a:spcBef>
                <a:spcPts val="600"/>
              </a:spcBef>
            </a:pPr>
            <a:r>
              <a:rPr lang="en-US" dirty="0"/>
              <a:t>Extended SCSI CDB Support (encode/decode CDB’s)</a:t>
            </a:r>
          </a:p>
          <a:p>
            <a:pPr>
              <a:spcBef>
                <a:spcPts val="600"/>
              </a:spcBef>
            </a:pPr>
            <a:r>
              <a:rPr lang="en-US" dirty="0"/>
              <a:t>Enhanced Script File Support (custom test scripts)</a:t>
            </a:r>
          </a:p>
          <a:p>
            <a:pPr>
              <a:spcBef>
                <a:spcPts val="600"/>
              </a:spcBef>
            </a:pPr>
            <a:r>
              <a:rPr lang="en-US" dirty="0"/>
              <a:t>Emit Status Control Strings (roll your own output format)</a:t>
            </a:r>
          </a:p>
          <a:p>
            <a:pPr>
              <a:spcBef>
                <a:spcPts val="600"/>
              </a:spcBef>
            </a:pPr>
            <a:r>
              <a:rPr lang="en-US" dirty="0"/>
              <a:t>Test Check / Expect Options (automatic data/sense checks)</a:t>
            </a:r>
          </a:p>
          <a:p>
            <a:pPr>
              <a:spcBef>
                <a:spcPts val="600"/>
              </a:spcBef>
            </a:pPr>
            <a:r>
              <a:rPr lang="en-US" dirty="0"/>
              <a:t>Provides ASCII and JSON output formats! (work-in-progress)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to unpack SCSI data (decode data in user format)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2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SPT Version 3.x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721" y="1281112"/>
            <a:ext cx="8498757" cy="50434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SES LED Control</a:t>
            </a:r>
          </a:p>
          <a:p>
            <a:pPr>
              <a:spcBef>
                <a:spcPts val="600"/>
              </a:spcBef>
            </a:pPr>
            <a:r>
              <a:rPr lang="en-US" dirty="0"/>
              <a:t>Log Pages: counters, temperature</a:t>
            </a:r>
          </a:p>
          <a:p>
            <a:pPr>
              <a:spcBef>
                <a:spcPts val="600"/>
              </a:spcBef>
            </a:pPr>
            <a:r>
              <a:rPr lang="en-US" dirty="0"/>
              <a:t>Built-in Request Sense parsing, and others</a:t>
            </a:r>
          </a:p>
          <a:p>
            <a:pPr>
              <a:spcBef>
                <a:spcPts val="600"/>
              </a:spcBef>
            </a:pPr>
            <a:r>
              <a:rPr lang="en-US" dirty="0"/>
              <a:t>Show Devices Formats: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Summary Format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Long Format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Roll-Your-Own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JSON Format</a:t>
            </a:r>
          </a:p>
          <a:p>
            <a:pPr>
              <a:spcBef>
                <a:spcPts val="600"/>
              </a:spcBef>
            </a:pPr>
            <a:r>
              <a:rPr lang="en-US" dirty="0"/>
              <a:t>List Disks/Enclosures Script: </a:t>
            </a:r>
            <a:r>
              <a:rPr lang="en-US" i="1" dirty="0" err="1"/>
              <a:t>lsdisks</a:t>
            </a:r>
            <a:r>
              <a:rPr lang="en-US" i="1" dirty="0"/>
              <a:t> </a:t>
            </a:r>
            <a:r>
              <a:rPr lang="en-US" sz="2400" i="1" dirty="0"/>
              <a:t>(Python </a:t>
            </a:r>
            <a:r>
              <a:rPr lang="en-US" sz="2400" i="1" dirty="0" err="1"/>
              <a:t>spt</a:t>
            </a:r>
            <a:r>
              <a:rPr lang="en-US" sz="2400" i="1" dirty="0"/>
              <a:t> wrapper)</a:t>
            </a:r>
          </a:p>
          <a:p>
            <a:pPr>
              <a:spcBef>
                <a:spcPts val="600"/>
              </a:spcBef>
            </a:pPr>
            <a:r>
              <a:rPr lang="en-US" dirty="0"/>
              <a:t>Test Commands: </a:t>
            </a:r>
            <a:r>
              <a:rPr lang="en-US" dirty="0" err="1"/>
              <a:t>selftest</a:t>
            </a:r>
            <a:r>
              <a:rPr lang="en-US" dirty="0"/>
              <a:t>, extended self test, </a:t>
            </a:r>
            <a:r>
              <a:rPr lang="en-US" dirty="0" err="1"/>
              <a:t>etc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Python Shared Library via CTYPES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5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XCOPY Acronyms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Copy (</a:t>
            </a:r>
            <a:r>
              <a:rPr lang="en-US" b="1" dirty="0"/>
              <a:t>XCOPY</a:t>
            </a:r>
            <a:r>
              <a:rPr lang="en-US" dirty="0"/>
              <a:t>) (older method used by </a:t>
            </a:r>
            <a:r>
              <a:rPr lang="en-US" dirty="0" err="1"/>
              <a:t>Vmware</a:t>
            </a:r>
            <a:r>
              <a:rPr lang="en-US" dirty="0"/>
              <a:t>)</a:t>
            </a:r>
          </a:p>
          <a:p>
            <a:r>
              <a:rPr lang="en-US" dirty="0"/>
              <a:t>Token Based XCOPY:</a:t>
            </a:r>
          </a:p>
          <a:p>
            <a:pPr lvl="1"/>
            <a:r>
              <a:rPr lang="en-US" dirty="0"/>
              <a:t>Newer method used by Windows, aka </a:t>
            </a:r>
            <a:r>
              <a:rPr lang="en-US" dirty="0">
                <a:hlinkClick r:id="rId2"/>
              </a:rPr>
              <a:t>ODX </a:t>
            </a:r>
            <a:endParaRPr lang="en-US" dirty="0"/>
          </a:p>
          <a:p>
            <a:pPr lvl="1"/>
            <a:r>
              <a:rPr lang="en-US" dirty="0"/>
              <a:t>Populate Token (</a:t>
            </a:r>
            <a:r>
              <a:rPr lang="en-US" b="1" dirty="0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Receive ROD Token Information (</a:t>
            </a:r>
            <a:r>
              <a:rPr lang="en-US" b="1" dirty="0"/>
              <a:t>RTTI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ROD = Representation of Data</a:t>
            </a:r>
          </a:p>
          <a:p>
            <a:pPr lvl="1"/>
            <a:r>
              <a:rPr lang="en-US" dirty="0"/>
              <a:t>Write Using Token (</a:t>
            </a:r>
            <a:r>
              <a:rPr lang="en-US" b="1" dirty="0"/>
              <a:t>WUT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Token</a:t>
            </a:r>
            <a:r>
              <a:rPr lang="en-US" dirty="0"/>
              <a:t> - A Token represents point-in-time copy of LBA ranges from source LUN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NetApp Confidential -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3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(some of) The Differences?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Non-Token Based XCOPY: (VMware)</a:t>
            </a:r>
          </a:p>
          <a:p>
            <a:pPr lvl="1"/>
            <a:r>
              <a:rPr lang="en-US" dirty="0"/>
              <a:t>One SCSI Command:</a:t>
            </a:r>
          </a:p>
          <a:p>
            <a:pPr lvl="2"/>
            <a:r>
              <a:rPr lang="en-US" dirty="0"/>
              <a:t>Extended Copy CDB (XCOPY)</a:t>
            </a:r>
          </a:p>
          <a:p>
            <a:pPr lvl="1"/>
            <a:r>
              <a:rPr lang="en-US" dirty="0"/>
              <a:t>Inquiry VPD Device ID Identifier required</a:t>
            </a:r>
          </a:p>
          <a:p>
            <a:pPr lvl="1"/>
            <a:r>
              <a:rPr lang="en-US" dirty="0"/>
              <a:t>Multiple Sources, One Destination LUN</a:t>
            </a:r>
          </a:p>
          <a:p>
            <a:r>
              <a:rPr lang="en-US" dirty="0"/>
              <a:t>Token Based XCOPY: (Microsoft)</a:t>
            </a:r>
          </a:p>
          <a:p>
            <a:pPr lvl="1"/>
            <a:r>
              <a:rPr lang="en-US" dirty="0"/>
              <a:t>Multiple SCSI Commands:</a:t>
            </a:r>
          </a:p>
          <a:p>
            <a:pPr lvl="2"/>
            <a:r>
              <a:rPr lang="en-US" dirty="0"/>
              <a:t>PT / RTTI / WUT / RTTI</a:t>
            </a:r>
          </a:p>
          <a:p>
            <a:pPr lvl="1"/>
            <a:r>
              <a:rPr lang="en-US" dirty="0"/>
              <a:t>One Source and One Destination LUN</a:t>
            </a:r>
          </a:p>
          <a:p>
            <a:pPr lvl="1"/>
            <a:r>
              <a:rPr lang="en-US" dirty="0"/>
              <a:t>Token XCOPY Volume Requirements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NetApp Confidential -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61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Pass-Through (SPT)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Supports Both XCOPY Formats:</a:t>
            </a:r>
          </a:p>
          <a:p>
            <a:pPr lvl="1"/>
            <a:r>
              <a:rPr lang="en-US" dirty="0" err="1"/>
              <a:t>cdb</a:t>
            </a:r>
            <a:r>
              <a:rPr lang="en-US" dirty="0"/>
              <a:t>=0x83 initiates non-token </a:t>
            </a:r>
            <a:r>
              <a:rPr lang="en-US" dirty="0" err="1"/>
              <a:t>xcopy</a:t>
            </a:r>
            <a:endParaRPr lang="en-US" dirty="0"/>
          </a:p>
          <a:p>
            <a:pPr lvl="1"/>
            <a:r>
              <a:rPr lang="en-US" dirty="0" err="1"/>
              <a:t>cdb</a:t>
            </a:r>
            <a:r>
              <a:rPr lang="en-US" dirty="0"/>
              <a:t>='0x83 0x11‘ initiates token </a:t>
            </a:r>
            <a:r>
              <a:rPr lang="en-US" dirty="0" err="1"/>
              <a:t>xcopy</a:t>
            </a:r>
            <a:endParaRPr lang="en-US" dirty="0"/>
          </a:p>
          <a:p>
            <a:r>
              <a:rPr lang="en-US" dirty="0"/>
              <a:t>Multiple Sources for non-token </a:t>
            </a:r>
            <a:r>
              <a:rPr lang="en-US" dirty="0" err="1"/>
              <a:t>xcopy</a:t>
            </a:r>
            <a:endParaRPr lang="en-US" dirty="0"/>
          </a:p>
          <a:p>
            <a:r>
              <a:rPr lang="en-US" dirty="0"/>
              <a:t>Multiple Destination for token </a:t>
            </a:r>
            <a:r>
              <a:rPr lang="en-US" dirty="0" err="1"/>
              <a:t>xcopy</a:t>
            </a:r>
            <a:endParaRPr lang="en-US" dirty="0"/>
          </a:p>
          <a:p>
            <a:r>
              <a:rPr lang="en-US" dirty="0"/>
              <a:t>Zero ROD Supported for Token </a:t>
            </a:r>
            <a:r>
              <a:rPr lang="en-US" dirty="0" err="1"/>
              <a:t>xcopy</a:t>
            </a:r>
            <a:endParaRPr lang="en-US" dirty="0"/>
          </a:p>
          <a:p>
            <a:pPr lvl="1"/>
            <a:r>
              <a:rPr lang="en-US" dirty="0"/>
              <a:t>same as </a:t>
            </a:r>
            <a:r>
              <a:rPr lang="en-US" dirty="0" err="1"/>
              <a:t>unmapping</a:t>
            </a:r>
            <a:r>
              <a:rPr lang="en-US" dirty="0"/>
              <a:t> blocks via </a:t>
            </a:r>
            <a:r>
              <a:rPr lang="en-US" dirty="0" err="1"/>
              <a:t>Unmap</a:t>
            </a:r>
            <a:r>
              <a:rPr lang="en-US" dirty="0"/>
              <a:t> CDB</a:t>
            </a:r>
          </a:p>
          <a:p>
            <a:r>
              <a:rPr lang="en-US" dirty="0"/>
              <a:t>Extended Debug (enable=</a:t>
            </a:r>
            <a:r>
              <a:rPr lang="en-US" dirty="0" err="1"/>
              <a:t>xdebug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automatically dumped during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NetApp Confidential -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76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Disks for Extended Copy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9740" y="1314450"/>
            <a:ext cx="9989820" cy="4586288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  <a:r>
              <a:rPr lang="en-US" sz="1200" b="1" dirty="0" err="1"/>
              <a:t>spt</a:t>
            </a:r>
            <a:r>
              <a:rPr lang="en-US" sz="1200" b="1" dirty="0"/>
              <a:t> </a:t>
            </a:r>
            <a:r>
              <a:rPr lang="en-US" sz="1200" b="1" dirty="0" err="1"/>
              <a:t>dsf</a:t>
            </a:r>
            <a:r>
              <a:rPr lang="en-US" sz="1200" b="1" dirty="0"/>
              <a:t>=/dev/mapper/</a:t>
            </a:r>
            <a:r>
              <a:rPr lang="en-US" sz="1200" b="1" dirty="0" err="1"/>
              <a:t>mpatha</a:t>
            </a:r>
            <a:r>
              <a:rPr lang="en-US" sz="1200" b="1" dirty="0"/>
              <a:t> </a:t>
            </a:r>
            <a:r>
              <a:rPr lang="en-US" sz="1200" b="1" dirty="0" err="1"/>
              <a:t>cdb</a:t>
            </a:r>
            <a:r>
              <a:rPr lang="en-US" sz="1200" b="1" dirty="0"/>
              <a:t>=8e </a:t>
            </a:r>
            <a:r>
              <a:rPr lang="en-US" sz="1200" b="1" dirty="0" err="1"/>
              <a:t>bs</a:t>
            </a:r>
            <a:r>
              <a:rPr lang="en-US" sz="1200" b="1" dirty="0"/>
              <a:t>=32k starting=0 pattern=</a:t>
            </a:r>
            <a:r>
              <a:rPr lang="en-US" sz="1200" b="1" dirty="0" err="1"/>
              <a:t>iot</a:t>
            </a:r>
            <a:r>
              <a:rPr lang="en-US" sz="1200" b="1" dirty="0"/>
              <a:t> slices=10 enable=Debug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(j:0 t:0): Device: /dev/mapper/</a:t>
            </a:r>
            <a:r>
              <a:rPr lang="en-US" sz="1200" dirty="0" err="1"/>
              <a:t>mpatha</a:t>
            </a:r>
            <a:r>
              <a:rPr lang="en-US" sz="1200" dirty="0"/>
              <a:t>, Device Size: 512 bytes, Capacity: 20971520 blocks (thread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(j:0 t:0):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=0, ending </a:t>
            </a:r>
            <a:r>
              <a:rPr lang="en-US" sz="1200" dirty="0" err="1"/>
              <a:t>lba</a:t>
            </a:r>
            <a:r>
              <a:rPr lang="en-US" sz="1200" dirty="0"/>
              <a:t>=20971519, block limit=20971520 (thread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t:2):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=2097152, ending </a:t>
            </a:r>
            <a:r>
              <a:rPr lang="en-US" sz="1200" dirty="0" err="1"/>
              <a:t>lba</a:t>
            </a:r>
            <a:r>
              <a:rPr lang="en-US" sz="1200" dirty="0"/>
              <a:t>=4194303, block limit=2097152 (thread 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t:1):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=0, ending </a:t>
            </a:r>
            <a:r>
              <a:rPr lang="en-US" sz="1200" dirty="0" err="1"/>
              <a:t>lba</a:t>
            </a:r>
            <a:r>
              <a:rPr lang="en-US" sz="1200" dirty="0"/>
              <a:t>=2097151, block limit=2097152 (thread 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t:3):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=4194304, ending </a:t>
            </a:r>
            <a:r>
              <a:rPr lang="en-US" sz="1200" dirty="0" err="1"/>
              <a:t>lba</a:t>
            </a:r>
            <a:r>
              <a:rPr lang="en-US" sz="1200" dirty="0"/>
              <a:t>=6291455, block limit=2097152 (thread 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t:4):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=6291456, ending </a:t>
            </a:r>
            <a:r>
              <a:rPr lang="en-US" sz="1200" dirty="0" err="1"/>
              <a:t>lba</a:t>
            </a:r>
            <a:r>
              <a:rPr lang="en-US" sz="1200" dirty="0"/>
              <a:t>=8388607, block limit=2097152 (thread 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t:8):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=14680064, ending </a:t>
            </a:r>
            <a:r>
              <a:rPr lang="en-US" sz="1200" dirty="0" err="1"/>
              <a:t>lba</a:t>
            </a:r>
            <a:r>
              <a:rPr lang="en-US" sz="1200" dirty="0"/>
              <a:t>=16777215, block limit=2097152 (thread 8)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t:6):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=10485760, ending </a:t>
            </a:r>
            <a:r>
              <a:rPr lang="en-US" sz="1200" dirty="0" err="1"/>
              <a:t>lba</a:t>
            </a:r>
            <a:r>
              <a:rPr lang="en-US" sz="1200" dirty="0"/>
              <a:t>=12582911, block limit=2097152 (thread 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t:5):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=8388608, ending </a:t>
            </a:r>
            <a:r>
              <a:rPr lang="en-US" sz="1200" dirty="0" err="1"/>
              <a:t>lba</a:t>
            </a:r>
            <a:r>
              <a:rPr lang="en-US" sz="1200" dirty="0"/>
              <a:t>=10485759, block limit=2097152 (thread 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t:7):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=12582912, ending </a:t>
            </a:r>
            <a:r>
              <a:rPr lang="en-US" sz="1200" dirty="0" err="1"/>
              <a:t>lba</a:t>
            </a:r>
            <a:r>
              <a:rPr lang="en-US" sz="1200" dirty="0"/>
              <a:t>=14680063, block limit=2097152 (thread 7)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t:9):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=16777216, ending </a:t>
            </a:r>
            <a:r>
              <a:rPr lang="en-US" sz="1200" dirty="0" err="1"/>
              <a:t>lba</a:t>
            </a:r>
            <a:r>
              <a:rPr lang="en-US" sz="1200" dirty="0"/>
              <a:t>=18874367, block limit=2097152 (thread 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spt</a:t>
            </a:r>
            <a:r>
              <a:rPr lang="en-US" sz="1200" dirty="0"/>
              <a:t> (j:1 t:10): Device: /dev/mapper/</a:t>
            </a:r>
            <a:r>
              <a:rPr lang="en-US" sz="1200" dirty="0" err="1"/>
              <a:t>mpatha</a:t>
            </a:r>
            <a:r>
              <a:rPr lang="en-US" sz="1200" dirty="0"/>
              <a:t>, Starting </a:t>
            </a:r>
            <a:r>
              <a:rPr lang="en-US" sz="1200" dirty="0" err="1"/>
              <a:t>lba</a:t>
            </a:r>
            <a:r>
              <a:rPr lang="en-US" sz="1200" dirty="0"/>
              <a:t>=18874368, ending </a:t>
            </a:r>
            <a:r>
              <a:rPr lang="en-US" sz="1200" dirty="0" err="1"/>
              <a:t>lba</a:t>
            </a:r>
            <a:r>
              <a:rPr lang="en-US" sz="1200" dirty="0"/>
              <a:t>=20971519, block limit=2097152 (thread 10)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  <a:r>
              <a:rPr lang="en-US" sz="1200" b="1" dirty="0" err="1"/>
              <a:t>spt</a:t>
            </a:r>
            <a:r>
              <a:rPr lang="en-US" sz="1200" b="1" dirty="0"/>
              <a:t> </a:t>
            </a:r>
            <a:r>
              <a:rPr lang="en-US" sz="1200" b="1" dirty="0" err="1"/>
              <a:t>dsf</a:t>
            </a:r>
            <a:r>
              <a:rPr lang="en-US" sz="1200" b="1" dirty="0"/>
              <a:t>=/dev/mapper/</a:t>
            </a:r>
            <a:r>
              <a:rPr lang="en-US" sz="1200" b="1" dirty="0" err="1"/>
              <a:t>mpatha</a:t>
            </a:r>
            <a:r>
              <a:rPr lang="en-US" sz="1200" b="1" dirty="0"/>
              <a:t> </a:t>
            </a:r>
            <a:r>
              <a:rPr lang="en-US" sz="1200" b="1" dirty="0" err="1"/>
              <a:t>cdb</a:t>
            </a:r>
            <a:r>
              <a:rPr lang="en-US" sz="1200" b="1" dirty="0"/>
              <a:t>='9e 12' starting=0 </a:t>
            </a:r>
            <a:r>
              <a:rPr lang="en-US" sz="1200" b="1" dirty="0" err="1"/>
              <a:t>logprefix</a:t>
            </a:r>
            <a:r>
              <a:rPr lang="en-US" sz="1200" b="1" dirty="0"/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3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     Mapped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Deallocated Blocks: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  <a:r>
              <a:rPr lang="en-US" sz="1200" b="1" dirty="0" err="1"/>
              <a:t>spt</a:t>
            </a:r>
            <a:r>
              <a:rPr lang="en-US" sz="1200" b="1" dirty="0"/>
              <a:t> </a:t>
            </a:r>
            <a:r>
              <a:rPr lang="en-US" sz="1200" b="1" dirty="0" err="1"/>
              <a:t>dsf</a:t>
            </a:r>
            <a:r>
              <a:rPr lang="en-US" sz="1200" b="1" dirty="0"/>
              <a:t>=/dev/mapper/</a:t>
            </a:r>
            <a:r>
              <a:rPr lang="en-US" sz="1200" b="1" dirty="0" err="1"/>
              <a:t>mpathb</a:t>
            </a:r>
            <a:r>
              <a:rPr lang="en-US" sz="1200" b="1" dirty="0"/>
              <a:t> </a:t>
            </a:r>
            <a:r>
              <a:rPr lang="en-US" sz="1200" b="1" dirty="0" err="1"/>
              <a:t>cdb</a:t>
            </a:r>
            <a:r>
              <a:rPr lang="en-US" sz="1200" b="1" dirty="0"/>
              <a:t>='42' starting=0 </a:t>
            </a:r>
            <a:r>
              <a:rPr lang="en-US" sz="1200" b="1" dirty="0" err="1"/>
              <a:t>logprefix</a:t>
            </a:r>
            <a:r>
              <a:rPr lang="en-US" sz="1200" b="1" dirty="0"/>
              <a:t>=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  <a:r>
              <a:rPr lang="en-US" sz="1200" b="1" dirty="0" err="1"/>
              <a:t>spt</a:t>
            </a:r>
            <a:r>
              <a:rPr lang="en-US" sz="1200" b="1" dirty="0"/>
              <a:t> </a:t>
            </a:r>
            <a:r>
              <a:rPr lang="en-US" sz="1200" b="1" dirty="0" err="1"/>
              <a:t>dsf</a:t>
            </a:r>
            <a:r>
              <a:rPr lang="en-US" sz="1200" b="1" dirty="0"/>
              <a:t>=/dev/mapper/</a:t>
            </a:r>
            <a:r>
              <a:rPr lang="en-US" sz="1200" b="1" dirty="0" err="1"/>
              <a:t>mpathb</a:t>
            </a:r>
            <a:r>
              <a:rPr lang="en-US" sz="1200" b="1" dirty="0"/>
              <a:t> </a:t>
            </a:r>
            <a:r>
              <a:rPr lang="en-US" sz="1200" b="1" dirty="0" err="1"/>
              <a:t>cdb</a:t>
            </a:r>
            <a:r>
              <a:rPr lang="en-US" sz="1200" b="1" dirty="0"/>
              <a:t>='9e 12' starting=0 </a:t>
            </a:r>
            <a:r>
              <a:rPr lang="en-US" sz="1200" b="1" dirty="0" err="1"/>
              <a:t>logprefix</a:t>
            </a:r>
            <a:r>
              <a:rPr lang="en-US" sz="1200" b="1" dirty="0"/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     Mapped Blocks: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Deallocated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         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36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Non-Token Based XCOPY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=0x83 enable=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recovery,sense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=/dev/mapper/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mpatha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dst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=/dev/mapper/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mpathb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emit=multi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logprefix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Source Device: /dev/mapper/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mpatha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Source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Destination Device: /dev/mapper/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mpathb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Destination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SCSI Name: Extended Copy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SCSI CDB: 83 00 00 00 00 00 00 00 00 00 00 00 00 6c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Data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asq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Bytes Transferred: 108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Total Bytes: 276480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Total Operations: 2564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Elapsed Time: 00m12.90s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Starting Time: Fri Feb  1 14:27:50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Ending Time: Fri Feb  1 14:28:03 2019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NetApp Confidential -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5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Based XCOPY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='0x83 0x11' enable=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recovery,sense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=/dev/mapper/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mpatha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dst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=/dev/mapper/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mpathb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emit=multi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logprefix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             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Source Device: /dev/mapper/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mpatha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Source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Destination Device: /dev/mapper/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mpathb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Destination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SCSI Name: XCOPY - Write Using Token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SCSI CDB: 83 11 00 00 00 00 01 8b 46 06 00 00 02 28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Data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asq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Bytes Transferred: 32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  Residual: 773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Total Bytes: 88320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Total Operations: 644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Elapsed Time: 00m10.60s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Starting Time: Fri Feb  1 14:29:50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          Ending Time: Fri Feb  1 14:30:01 2019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NetApp Confidential -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04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the XCOPY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314450"/>
            <a:ext cx="9890760" cy="458628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# </a:t>
            </a:r>
            <a:r>
              <a:rPr lang="en-US" sz="1200" b="1" dirty="0" err="1"/>
              <a:t>spt</a:t>
            </a:r>
            <a:r>
              <a:rPr lang="en-US" sz="1200" b="1" dirty="0"/>
              <a:t> </a:t>
            </a:r>
            <a:r>
              <a:rPr lang="en-US" sz="1200" b="1" dirty="0" err="1"/>
              <a:t>iomode</a:t>
            </a:r>
            <a:r>
              <a:rPr lang="en-US" sz="1200" b="1" dirty="0"/>
              <a:t>=verify length=32k </a:t>
            </a:r>
            <a:r>
              <a:rPr lang="en-US" sz="1200" b="1" dirty="0" err="1"/>
              <a:t>dsf</a:t>
            </a:r>
            <a:r>
              <a:rPr lang="en-US" sz="1200" b="1" dirty="0"/>
              <a:t>=${SRC} starting=0 dsf1=${DST} starting=0 emit=multi enable=</a:t>
            </a:r>
            <a:r>
              <a:rPr lang="en-US" sz="1200" b="1" dirty="0" err="1"/>
              <a:t>compare,recovery,sense</a:t>
            </a:r>
            <a:r>
              <a:rPr lang="en-US" sz="1200" b="1" dirty="0"/>
              <a:t> </a:t>
            </a:r>
            <a:r>
              <a:rPr lang="en-US" sz="1200" b="1" dirty="0" err="1"/>
              <a:t>logprefix</a:t>
            </a:r>
            <a:r>
              <a:rPr lang="en-US" sz="1200" b="1" dirty="0"/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Source Device: 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mpathb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Source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Destination Device: 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mpatha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Destination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Read(16)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88 00 00 00 00 00 01 3f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c0 00 00 00 40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read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32768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32768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21474836480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41943040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655362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Elapsed Time: 01m35.04s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Fri Feb  1 14:13:29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Fri Feb  1 14:15:04 2019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24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Data Verification with </a:t>
            </a:r>
            <a:r>
              <a:rPr lang="en-US" dirty="0" err="1"/>
              <a:t>dt</a:t>
            </a:r>
            <a:r>
              <a:rPr lang="en-US" dirty="0"/>
              <a:t>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314450"/>
            <a:ext cx="9890760" cy="458628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# </a:t>
            </a:r>
            <a:r>
              <a:rPr lang="en-US" sz="1100" b="1" dirty="0" err="1"/>
              <a:t>dt</a:t>
            </a:r>
            <a:r>
              <a:rPr lang="en-US" sz="1100" b="1" dirty="0"/>
              <a:t> </a:t>
            </a:r>
            <a:r>
              <a:rPr lang="en-US" sz="1100" b="1" dirty="0" err="1"/>
              <a:t>src</a:t>
            </a:r>
            <a:r>
              <a:rPr lang="en-US" sz="1100" b="1" dirty="0"/>
              <a:t>=${SRC} </a:t>
            </a:r>
            <a:r>
              <a:rPr lang="en-US" sz="1100" b="1" dirty="0" err="1"/>
              <a:t>dst</a:t>
            </a:r>
            <a:r>
              <a:rPr lang="en-US" sz="1100" b="1" dirty="0"/>
              <a:t>=${DST} </a:t>
            </a:r>
            <a:r>
              <a:rPr lang="en-US" sz="1100" b="1" dirty="0" err="1"/>
              <a:t>iomode</a:t>
            </a:r>
            <a:r>
              <a:rPr lang="en-US" sz="1100" b="1" dirty="0"/>
              <a:t>=verify </a:t>
            </a:r>
            <a:r>
              <a:rPr lang="en-US" sz="1100" b="1" dirty="0" err="1"/>
              <a:t>bs</a:t>
            </a:r>
            <a:r>
              <a:rPr lang="en-US" sz="1100" b="1" dirty="0"/>
              <a:t>=32k slices=10 workload=</a:t>
            </a:r>
            <a:r>
              <a:rPr lang="en-US" sz="1100" b="1" dirty="0" err="1"/>
              <a:t>job_stats_only</a:t>
            </a:r>
            <a:r>
              <a:rPr lang="en-US" sz="1100" b="1" dirty="0"/>
              <a:t> </a:t>
            </a:r>
            <a:r>
              <a:rPr lang="en-US" sz="1100" b="1" dirty="0" err="1"/>
              <a:t>logprefix</a:t>
            </a:r>
            <a:r>
              <a:rPr lang="en-US" sz="1100" b="1" dirty="0"/>
              <a:t>= disable=</a:t>
            </a:r>
            <a:r>
              <a:rPr lang="en-US" sz="1100" b="1" dirty="0" err="1"/>
              <a:t>scsi</a:t>
            </a:r>
            <a:r>
              <a:rPr lang="en-US" sz="1100" b="1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Operating System Information: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Host name: rtpqa-rhel001 (10.64.21.59)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User name: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romiller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Process ID: 28933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OS information: Linux 3.10.0-514.el7.x86_64 #1 SMP Wed Oct 19 11:24:13 EDT 2016 x86_64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Job Statistics: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Input device/file name: 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(device type=disk)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Type of I/O's performed: sequential (forward)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Job Information Reported: Job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Number of slices: 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Data operation performed: Verified '/dev/mapper/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 with '/dev/mapper/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mpathb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Total records read: 655360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Total bytes read: 21474836480 (20971520.000 Kbytes, 20480.000 Mbytes, 20.000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Gbytes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Total records written: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Total bytes written: 0 (0.000 Kbytes, 0.000 Mbytes, 0.000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Gbytes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Total records processed: 655360 @ 32768 bytes/record (32.000 Kbytes)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Total bytes transferred: 21474836480 (20971520.000 Kbytes, 20480.000 Mbytes)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Average transfer rates: 733494714 bytes/sec, 716303.432 Kbytes/sec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Number I/O's per second: 22384.482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Number seconds per I/O: 0.0000 (0.04ms)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Total passes completed: 1/1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Total errors detected: 0/1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Total elapsed time: 00m29.28s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system time: 00m10.45s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Total user time: 00m42.31s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Starting time: Fri Feb  1 14:37:33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Ending time: Fri Feb  1 14:38:03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spt</a:t>
            </a:r>
            <a:r>
              <a:rPr lang="en-US" dirty="0"/>
              <a:t> TOI 2019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167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ROD Token to </a:t>
            </a:r>
            <a:r>
              <a:rPr lang="en-US" dirty="0" err="1"/>
              <a:t>Unmap</a:t>
            </a:r>
            <a:r>
              <a:rPr lang="en-US" dirty="0"/>
              <a:t>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314450"/>
            <a:ext cx="9890760" cy="4586288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300" dirty="0"/>
              <a:t># </a:t>
            </a:r>
            <a:r>
              <a:rPr lang="en-US" sz="1300" b="1" dirty="0" err="1"/>
              <a:t>spt</a:t>
            </a:r>
            <a:r>
              <a:rPr lang="en-US" sz="1300" b="1" dirty="0"/>
              <a:t> </a:t>
            </a:r>
            <a:r>
              <a:rPr lang="en-US" sz="1300" b="1" dirty="0" err="1"/>
              <a:t>dsf</a:t>
            </a:r>
            <a:r>
              <a:rPr lang="en-US" sz="1300" b="1" dirty="0"/>
              <a:t>=${DST} </a:t>
            </a:r>
            <a:r>
              <a:rPr lang="en-US" sz="1300" b="1" dirty="0" err="1"/>
              <a:t>cdb</a:t>
            </a:r>
            <a:r>
              <a:rPr lang="en-US" sz="1300" b="1" dirty="0"/>
              <a:t>='9e 12' starting=0 </a:t>
            </a:r>
            <a:r>
              <a:rPr lang="en-US" sz="1300" b="1" dirty="0" err="1"/>
              <a:t>logprefix</a:t>
            </a:r>
            <a:r>
              <a:rPr lang="en-US" sz="1300" b="1" dirty="0"/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Mapped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Deallocated Blocks: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/>
              <a:t># </a:t>
            </a:r>
            <a:r>
              <a:rPr lang="en-US" sz="1300" b="1" dirty="0" err="1"/>
              <a:t>spt</a:t>
            </a:r>
            <a:r>
              <a:rPr lang="en-US" sz="1300" b="1" dirty="0"/>
              <a:t> </a:t>
            </a:r>
            <a:r>
              <a:rPr lang="en-US" sz="1300" b="1" dirty="0" err="1"/>
              <a:t>cdb</a:t>
            </a:r>
            <a:r>
              <a:rPr lang="en-US" sz="1300" b="1" dirty="0"/>
              <a:t>='83 11' </a:t>
            </a:r>
            <a:r>
              <a:rPr lang="en-US" sz="1300" b="1" dirty="0" err="1"/>
              <a:t>dsf</a:t>
            </a:r>
            <a:r>
              <a:rPr lang="en-US" sz="1300" b="1" dirty="0"/>
              <a:t>=${DST} starting=0 enable=</a:t>
            </a:r>
            <a:r>
              <a:rPr lang="en-US" sz="1300" b="1" dirty="0" err="1"/>
              <a:t>zerorod</a:t>
            </a:r>
            <a:r>
              <a:rPr lang="en-US" sz="1300" b="1" dirty="0"/>
              <a:t> enable=</a:t>
            </a:r>
            <a:r>
              <a:rPr lang="en-US" sz="1300" b="1" dirty="0" err="1"/>
              <a:t>recovery,sense</a:t>
            </a:r>
            <a:r>
              <a:rPr lang="en-US" sz="1300" b="1" dirty="0"/>
              <a:t> emit=default </a:t>
            </a:r>
            <a:r>
              <a:rPr lang="en-US" sz="1300" b="1" dirty="0" err="1"/>
              <a:t>logprefix</a:t>
            </a:r>
            <a:r>
              <a:rPr lang="en-US" sz="1100" b="1" dirty="0"/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mpathb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0 - 20971520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XCOPY - Write Using Token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83 11 00 00 00 00 01 8b 46 06 00 00 02 28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32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773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88320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322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Time: 00m00.19s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Fri Feb  1 14:43:29 2019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Fri Feb  1 14:43:30 2019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/>
              <a:t># </a:t>
            </a:r>
            <a:r>
              <a:rPr lang="en-US" sz="1300" b="1" dirty="0" err="1"/>
              <a:t>spt</a:t>
            </a:r>
            <a:r>
              <a:rPr lang="en-US" sz="1300" b="1" dirty="0"/>
              <a:t> </a:t>
            </a:r>
            <a:r>
              <a:rPr lang="en-US" sz="1300" b="1" dirty="0" err="1"/>
              <a:t>dsf</a:t>
            </a:r>
            <a:r>
              <a:rPr lang="en-US" sz="1300" b="1" dirty="0"/>
              <a:t>=${DST} </a:t>
            </a:r>
            <a:r>
              <a:rPr lang="en-US" sz="1300" b="1" dirty="0" err="1"/>
              <a:t>cdb</a:t>
            </a:r>
            <a:r>
              <a:rPr lang="en-US" sz="1300" b="1" dirty="0"/>
              <a:t>='9e 12' starting=0 </a:t>
            </a:r>
            <a:r>
              <a:rPr lang="en-US" sz="1300" b="1" dirty="0" err="1"/>
              <a:t>logprefix</a:t>
            </a:r>
            <a:r>
              <a:rPr lang="en-US" sz="1300" b="1" dirty="0"/>
              <a:t>=                    </a:t>
            </a:r>
            <a:r>
              <a:rPr lang="en-US" sz="1100" b="1" dirty="0"/>
              <a:t>                      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Mapped Blocks: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Deallocated Blocks: 20971520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Total Blocks: 20971520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54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LED Control (useful on array)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81112"/>
            <a:ext cx="9335911" cy="5043488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Modify SES Control Elements</a:t>
            </a:r>
          </a:p>
          <a:p>
            <a:pPr>
              <a:spcBef>
                <a:spcPts val="600"/>
              </a:spcBef>
            </a:pPr>
            <a:r>
              <a:rPr lang="en-US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1" dirty="0" err="1"/>
              <a:t>spt</a:t>
            </a:r>
            <a:r>
              <a:rPr lang="en-US" b="1" dirty="0"/>
              <a:t> </a:t>
            </a:r>
            <a:r>
              <a:rPr lang="en-US" b="1" dirty="0" err="1"/>
              <a:t>ses</a:t>
            </a:r>
            <a:r>
              <a:rPr lang="en-US" b="1" dirty="0"/>
              <a:t> {</a:t>
            </a:r>
            <a:r>
              <a:rPr lang="en-US" b="1" dirty="0" err="1"/>
              <a:t>clear|set</a:t>
            </a:r>
            <a:r>
              <a:rPr lang="en-US" b="1" dirty="0"/>
              <a:t>}={</a:t>
            </a:r>
            <a:r>
              <a:rPr lang="en-US" b="1" dirty="0" err="1"/>
              <a:t>devoff|fail</a:t>
            </a:r>
            <a:r>
              <a:rPr lang="en-US" b="1" dirty="0"/>
              <a:t>/</a:t>
            </a:r>
            <a:r>
              <a:rPr lang="en-US" b="1" dirty="0" err="1"/>
              <a:t>fault|ident</a:t>
            </a:r>
            <a:r>
              <a:rPr lang="en-US" b="1" dirty="0"/>
              <a:t>/</a:t>
            </a:r>
            <a:r>
              <a:rPr lang="en-US" b="1" dirty="0" err="1"/>
              <a:t>locate|unlock</a:t>
            </a:r>
            <a:r>
              <a:rPr lang="en-US" b="1" dirty="0"/>
              <a:t>}</a:t>
            </a:r>
          </a:p>
          <a:p>
            <a:pPr>
              <a:spcBef>
                <a:spcPts val="600"/>
              </a:spcBef>
            </a:pPr>
            <a:r>
              <a:rPr lang="en-US" dirty="0"/>
              <a:t>Examples: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 SPT_DEVICE=/dev/sg50</a:t>
            </a:r>
            <a:endParaRPr lang="en-US" sz="1400" b="1" dirty="0"/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set=ident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etype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=array element=85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etype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=array element=85 page=enclosure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300"/>
              </a:spcBef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Enclosure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Diagnostic Page: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300"/>
              </a:spcBef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Page Code: 0x2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…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Element Descriptor: 85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Element Text: Array Slots    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Element Status Code: OK (0x01)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…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Identify LED: On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…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clear=ident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etype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=array element=85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9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023" y="1281112"/>
            <a:ext cx="8940800" cy="504348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1" dirty="0" err="1"/>
              <a:t>spt</a:t>
            </a:r>
            <a:r>
              <a:rPr lang="en-US" b="1" dirty="0"/>
              <a:t> </a:t>
            </a:r>
            <a:r>
              <a:rPr lang="en-US" b="1" dirty="0" err="1"/>
              <a:t>logsense</a:t>
            </a:r>
            <a:r>
              <a:rPr lang="en-US" b="1" dirty="0"/>
              <a:t> page={</a:t>
            </a:r>
            <a:r>
              <a:rPr lang="en-US" b="1" dirty="0" err="1"/>
              <a:t>name|code</a:t>
            </a:r>
            <a:r>
              <a:rPr lang="en-US" b="1" dirty="0"/>
              <a:t>}</a:t>
            </a:r>
          </a:p>
          <a:p>
            <a:pPr>
              <a:spcBef>
                <a:spcPts val="600"/>
              </a:spcBef>
            </a:pPr>
            <a:r>
              <a:rPr lang="en-US" dirty="0"/>
              <a:t>Examples: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logsense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write_error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rfmt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=brief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Write Error Counter Parameters (Page 0x2 - Current Cumulative Values):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Errors Corrected w/o Substantial Delay: 0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Errors Corrected with Possible Delays: 8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Total re-Reads or re-Writes: 0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Total Errors Corrected: 8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Times Correction Algorithm Processed: 17040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Bytes Processed: 3097992679424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Total Uncorrected Errors: 0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96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133" y="1281112"/>
            <a:ext cx="9358489" cy="5043488"/>
          </a:xfrm>
        </p:spPr>
        <p:txBody>
          <a:bodyPr>
            <a:normAutofit fontScale="47500" lnSpcReduction="20000"/>
          </a:bodyPr>
          <a:lstStyle/>
          <a:p>
            <a:pPr>
              <a:spcBef>
                <a:spcPts val="600"/>
              </a:spcBef>
            </a:pPr>
            <a:r>
              <a:rPr lang="en-US" sz="5100" dirty="0"/>
              <a:t>Provide Request Sense for In-Progress Commands</a:t>
            </a:r>
          </a:p>
          <a:p>
            <a:pPr>
              <a:spcBef>
                <a:spcPts val="600"/>
              </a:spcBef>
            </a:pPr>
            <a:r>
              <a:rPr lang="en-US" sz="5100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4200" b="1" dirty="0" err="1"/>
              <a:t>spt</a:t>
            </a:r>
            <a:r>
              <a:rPr lang="en-US" sz="4200" b="1" dirty="0"/>
              <a:t> </a:t>
            </a:r>
            <a:r>
              <a:rPr lang="en-US" sz="4200" b="1" dirty="0" err="1"/>
              <a:t>requestsense</a:t>
            </a:r>
            <a:endParaRPr lang="en-US" sz="4200" dirty="0"/>
          </a:p>
          <a:p>
            <a:pPr>
              <a:spcBef>
                <a:spcPts val="600"/>
              </a:spcBef>
            </a:pPr>
            <a:r>
              <a:rPr lang="en-US" sz="5100" dirty="0"/>
              <a:t>Examples: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bextended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requestsense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Request Sense Data: (sense length 32 bytes)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Error Code: 0x70 = Current Error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Information Field Valid: No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Sense Key: 0x2 = NOT READY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Information Field: 0 (0)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Additional Sense Length: 24 (0x18)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Command Specific Information: 0 (0)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Additional Sense Code/Qualifier: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(0x4, 0x9) - Logical unit not ready, self-test in progress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Field Replaceable Unit Code: 0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Sense Key Specific Bytes: 80 03 08 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Progress Indication: 1.18%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Additional Sense Bytes: 00 00 f5 05 00 00 00 00 00 00 00 00 00 00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21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Device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721" y="1281112"/>
            <a:ext cx="8835412" cy="5043488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en-US" sz="3800" dirty="0"/>
              <a:t>Show SCSI device information</a:t>
            </a:r>
          </a:p>
          <a:p>
            <a:pPr>
              <a:spcBef>
                <a:spcPts val="600"/>
              </a:spcBef>
            </a:pPr>
            <a:r>
              <a:rPr lang="en-US" sz="3800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1" dirty="0"/>
              <a:t># </a:t>
            </a:r>
            <a:r>
              <a:rPr lang="en-US" b="1" dirty="0" err="1"/>
              <a:t>spt</a:t>
            </a:r>
            <a:r>
              <a:rPr lang="en-US" b="1" dirty="0"/>
              <a:t> show { devices| </a:t>
            </a:r>
            <a:r>
              <a:rPr lang="en-US" b="1" dirty="0" err="1"/>
              <a:t>edt</a:t>
            </a:r>
            <a:r>
              <a:rPr lang="en-US" b="1" dirty="0"/>
              <a:t> } [filters]</a:t>
            </a:r>
          </a:p>
          <a:p>
            <a:pPr>
              <a:spcBef>
                <a:spcPts val="600"/>
              </a:spcBef>
            </a:pPr>
            <a:r>
              <a:rPr lang="en-US" sz="3800" dirty="0"/>
              <a:t>Example: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3300" dirty="0"/>
              <a:t>Show Devices Filters: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device(s)=string      The device path(s).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device_type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(s)={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value|string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},...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The device type.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exclude=string        The exclude path(s).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product=string        The product name.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vendor=string         The vendor name. (or vid=)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revision=string       The revision level. (or rev=)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fw_version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=string     The firmware version.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fwver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serial=string         The serial number.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show-fields=string    Show devices brief fields.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sflds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show-format=string    Show devices format control.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sfmt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show-path=string,...  Show devices using path. (or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spath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=).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43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Devices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690" y="1281112"/>
            <a:ext cx="10803466" cy="504348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--vendor Nimble</a:t>
            </a:r>
          </a:p>
          <a:p>
            <a:pPr marL="0" indent="0">
              <a:spcBef>
                <a:spcPts val="60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Linux       SCSI                              Array SW    Drive     Block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Device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Vendor       Product     Version    Capacity   Length          Serial Number       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 ---------- -------- ---------------- -------- ------------ ------ --------------------------------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/dev/sg10  Nimble   Server           5.1          20971520   512  92586db90a929ca96c9ce9004d05262d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/dev/sg12  Nimble   Server           5.1          20971520   512  92586db90a929ca96c9ce9004d05262d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/dev/sg14  Nimble   Server           5.1          20971520   512  92586db90a929ca96c9ce9004d05262d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/dev/sg16  Nimble   Server           5.1          20971520   512  92586db90a929ca96c9ce9004d05262d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/dev/sg9   Nimble   Server           5.1          20971520   512  7de17fd7510524536c9ce9004d05262d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/dev/sg19  Nimble   Server           5.1          20971520   512  7de17fd7510524536c9ce9004d05262d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sdu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/dev/sg21  Nimble   Server           5.1          20971520   512  7de17fd7510524536c9ce9004d05262d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/dev/sg23  Nimble   Server           5.1          20971520   512  7de17fd7510524536c9ce9004d05262d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/dev/sg25  Nimble   Server           5.1          20971520   512  7de17fd7510524536c9ce9004d05262d</a:t>
            </a:r>
          </a:p>
          <a:p>
            <a:pPr marL="0" indent="0">
              <a:spcBef>
                <a:spcPts val="60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821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Devices Fields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6292" y="1181100"/>
            <a:ext cx="9944176" cy="504348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show devices vid=Nimble show-fields='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vid,serial,swver,syncrep,paths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Vendor           Serial Number           SW Version Sync Rep Device Paths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 -------------------------------- ---------- -------- ------------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1ab3574fff125ce66c9ce9004d05262d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/dev/sg5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/dev/sg7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/dev/mapper/21ab3574fff125ce66c9ce9004d05262d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34b7a7a09b7abc1e6c9ce9004d05262d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/dev/sg6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/dev/sg8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/dev/mapper/234b7a7a09b7abc1e6c9ce9004d05262d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eb17d3b14c2f1bf36c9ce9004d05262d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/dev/sg9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/dev/sg11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/dev/mapper/2eb17d3b14c2f1bf36c9ce9004d05262d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05eaa367468617896c9ce9004d05262d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/dev/sg10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/dev/sg12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/dev/mapper/205eaa367468617896c9ce9004d05262d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f081af3d26bad6296c9ce9004d05262d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/dev/sg3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/dev/sg14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/dev/mapper/2f081af3d26bad6296c9ce9004d05262d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c16c750ad1c5ff9a6c9ce9004d05262d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/dev/sg4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/dev/sg15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/dev/mapper/2c16c750ad1c5ff9a6c9ce9004d05262d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d68d651c8052829e6c9ce9004d05262d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/dev/sg2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/dev/sg16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/dev/mapper/2d68d651c8052829e6c9ce9004d05262d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Nimble   a7e2da4ed76e35fe6c9ce9004d05262d  5.1        False  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/dev/sg13 /dev/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/dev/sg17 /dev/mapper/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/dev/mapper/2a7e2da4ed76e35fe6c9ce9004d05262d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56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Device JSON 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8844" y="1281112"/>
            <a:ext cx="9155289" cy="50434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show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device=/dev/mapper/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mpathh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ofmt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"SCSI Devices":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"Device List":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"Peripheral Device Type":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"Peripheral Device Type Description": "Direct Access Device",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"Vendor Identification": "Nimble 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"Product Identification": "Server         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"Firmware Revision Level": "1.0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"Full Firmware Version": "&lt;not available&gt;",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"Product Serial Number": "a7e2da4ed76e35fe6c9ce9004d05262d",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"Device World Wide Name": "0xa7e2da4ed76e35fe6c9ce9004d05262d",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"Device Target Port": "&lt;not available&gt;",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"Array SW Version": "5.1",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"Target Type": "Volume Scoped",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"Sync Replication":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"Device Paths": "\/dev\/mapper\/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"Path Types":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"DMMP Device": "\/dev\/mapper\/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"SCSI Nexus": "[27:0:0:0]"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"JSON Status":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SCSI Sense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7556" y="1281112"/>
            <a:ext cx="9177865" cy="50434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1" dirty="0" err="1"/>
              <a:t>spt</a:t>
            </a:r>
            <a:r>
              <a:rPr lang="en-US" b="1" dirty="0"/>
              <a:t> show </a:t>
            </a:r>
            <a:r>
              <a:rPr lang="en-US" b="1" dirty="0" err="1"/>
              <a:t>scsi</a:t>
            </a:r>
            <a:r>
              <a:rPr lang="en-US" b="1" dirty="0"/>
              <a:t> [filters]</a:t>
            </a:r>
          </a:p>
          <a:p>
            <a:pPr>
              <a:spcBef>
                <a:spcPts val="600"/>
              </a:spcBef>
            </a:pPr>
            <a:r>
              <a:rPr lang="en-US" dirty="0"/>
              <a:t>Examples: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# </a:t>
            </a:r>
            <a:r>
              <a:rPr lang="en-US" b="1" dirty="0" err="1"/>
              <a:t>spt</a:t>
            </a:r>
            <a:r>
              <a:rPr lang="en-US" b="1" dirty="0"/>
              <a:t> show </a:t>
            </a:r>
            <a:r>
              <a:rPr lang="en-US" b="1" dirty="0" err="1"/>
              <a:t>scsi</a:t>
            </a:r>
            <a:r>
              <a:rPr lang="en-US" b="1" dirty="0"/>
              <a:t> </a:t>
            </a:r>
            <a:r>
              <a:rPr lang="en-US" b="1" dirty="0" err="1"/>
              <a:t>ascq</a:t>
            </a:r>
            <a:r>
              <a:rPr lang="en-US" b="1" dirty="0"/>
              <a:t>=0x0404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900" dirty="0"/>
              <a:t>Sense Code/Qualifier = (0x4, 0x4) = Logical unit not ready, format in progress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# </a:t>
            </a:r>
            <a:r>
              <a:rPr lang="en-US" b="1" dirty="0" err="1"/>
              <a:t>spt</a:t>
            </a:r>
            <a:r>
              <a:rPr lang="en-US" b="1" dirty="0"/>
              <a:t> show </a:t>
            </a:r>
            <a:r>
              <a:rPr lang="en-US" b="1" dirty="0" err="1"/>
              <a:t>scsi</a:t>
            </a:r>
            <a:r>
              <a:rPr lang="en-US" b="1" dirty="0"/>
              <a:t> key=0x2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Sense Key = 0x2 = NOT READY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# </a:t>
            </a:r>
            <a:r>
              <a:rPr lang="en-US" b="1" dirty="0" err="1"/>
              <a:t>spt</a:t>
            </a:r>
            <a:r>
              <a:rPr lang="en-US" b="1" dirty="0"/>
              <a:t> show </a:t>
            </a:r>
            <a:r>
              <a:rPr lang="en-US" b="1" dirty="0" err="1"/>
              <a:t>scsi</a:t>
            </a:r>
            <a:r>
              <a:rPr lang="en-US" b="1" dirty="0"/>
              <a:t> status=28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SCSI Status = 0x28 = SCSI_QUEUE_FULL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#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32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Disks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81100"/>
            <a:ext cx="10371667" cy="51435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Python Script Utilizing </a:t>
            </a:r>
            <a:r>
              <a:rPr lang="en-US" sz="2400" dirty="0" err="1"/>
              <a:t>spt</a:t>
            </a:r>
            <a:r>
              <a:rPr lang="en-US" sz="2400" dirty="0"/>
              <a:t> to List Disks/Enclosure Information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2000" b="1" dirty="0" err="1"/>
              <a:t>lsdisks</a:t>
            </a:r>
            <a:r>
              <a:rPr lang="en-US" sz="2000" b="1" dirty="0"/>
              <a:t> [options…]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Help Text: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--help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usage: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[-h] [--debug] [--drives DRIVES] [--exclude EXCLUDE]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force_spt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[--long]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noencs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noheader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power_on_hours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firmware_version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FIRMWARE_VERSION]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PRODUCT_NAME]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vendor_name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VENDOR_NAME]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serial_number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SERIAL_NUMBER]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sas_address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SAS_ADDRESS]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target_port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TARGET_PORT]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use_lsscsi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[--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spt_path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SPT_PATH]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optional arguments: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-h, --help                  show this help message and exit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--debug                     The debug flag.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--drives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The drives to display. (Default: [])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--exclude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EXCLUDE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The drives to exclude. (Default: [])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force_spt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Force using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(debug).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Enable JSON format.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--long                      Enable long format.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noencs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Exclude enclosures.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noheader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Exclude headers.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power_on_hours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Include power on hours. (Default: True)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firmware_version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FIRMWARE_VERSION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The firmware version.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PRODUCT_NAME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The product name.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vendor_name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VENDOR_NAME   The vendor name.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serial_number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SERIAL_NUMBER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The serial number.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sas_address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SAS_ADDRESS   The SAS address.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target_port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TARGET_PORT   The target port. (Default: None)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use_lsscsi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Find devices via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lsscsi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 (Default: False)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spt_path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SPT_PATH         The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tool path. (Default: 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 marL="457200" lvl="1" indent="0">
              <a:spcBef>
                <a:spcPts val="600"/>
              </a:spcBef>
              <a:buNone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54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Disks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81112"/>
            <a:ext cx="10371667" cy="504348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Linux       SCSI                              Array SW    Drive     Block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Device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Vendor       Product     Version    Capacity   Length          Serial Number       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 ---------- -------- ---------------- -------- ------------ ------ --------------------------------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/dev/sg0   VMware   Virtual disk                  83886080   512  &lt;not available&gt;              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/dev/sg5   Nimble   Server           5.1          20971520   512  1ab3574fff125ce66c9ce9004d05262d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/dev/sg7   Nimble   Server           5.1          20971520   512  1ab3574fff125ce66c9ce9004d05262d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/dev/sg6   Nimble   Server           5.1          20971520   512  34b7a7a09b7abc1e6c9ce9004d05262d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/dev/sg8   Nimble   Server           5.1          20971520   512  34b7a7a09b7abc1e6c9ce9004d05262d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/dev/sg9   Nimble   Server           5.1          20971520   512  eb17d3b14c2f1bf36c9ce9004d05262d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/dev/sg11  Nimble   Server           5.1          20971520   512  eb17d3b14c2f1bf36c9ce9004d05262d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sdj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/dev/sg10  Nimble   Server           5.1          20971520   512  05eaa367468617896c9ce9004d05262d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/dev/sg12  Nimble   Server           5.1          20971520   512  05eaa367468617896c9ce9004d05262d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   Nimble   Server           5.1          20971520   512  f081af3d26bad6296c9ce9004d05262d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/dev/sg14  Nimble   Server           5.1          20971520   512  f081af3d26bad6296c9ce9004d05262d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   Nimble   Server           5.1          20971520   512  c16c750ad1c5ff9a6c9ce9004d05262d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/dev/sg15  Nimble   Server           5.1          20971520   512  c16c750ad1c5ff9a6c9ce9004d05262d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   Nimble   Server           5.1          20971520   512  d68d651c8052829e6c9ce9004d05262d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/dev/sg16  Nimble   Server           5.1          20971520   512  d68d651c8052829e6c9ce9004d05262d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/dev/sg13  Nimble   Server           5.1          20971520   512  a7e2da4ed76e35fe6c9ce9004d05262d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/dev/sg17  Nimble   Server           5.1          20971520   512  a7e2da4ed76e35fe6c9ce9004d05262d</a:t>
            </a:r>
          </a:p>
          <a:p>
            <a:pPr marL="0" indent="0">
              <a:spcBef>
                <a:spcPts val="30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19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Disks Long Format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956" y="1281112"/>
            <a:ext cx="8150577" cy="504348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--long --drives=/dev/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Device Type: disk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Device Description: Direct Access Device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Linux Device Name: /dev/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SCSI Device Name: /dev/sg17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Product Identification: Server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Vendor Identification: Nimble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Firmware Version: 1.0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Array SW Version: 5.1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Serial Number: a7e2da4ed76e35fe6c9ce9004d05262d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Drive Capacity: 20971520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Block Length: 512</a:t>
            </a:r>
          </a:p>
          <a:p>
            <a:pPr marL="0" indent="0">
              <a:spcBef>
                <a:spcPts val="30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4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Disks JSON Format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956" y="1281112"/>
            <a:ext cx="8150577" cy="504348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--long --drives=/dev/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"SAS Address":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"DMMP Device Name":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"SCSI Device Name": "/dev/sg17",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"Product Identification": "Server",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"Drive Capacity": 20971520,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"Linux Device Name": "/dev/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"Device World Wide Name": "0xa7e2da4ed76e35fe6c9ce9004d05262d",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"Power On Hours":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"Device Type": "disk",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"Serial Number": "a7e2da4ed76e35fe6c9ce9004d05262d",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"Device Type Description": "Direct Access Device",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"Block Length": 512,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"Enclosure Slot":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"Firmware Version": "1.0",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"Enclosure Device":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"Vendor Identification": "Nimble",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"Revision Level": "1.0",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"Slot Description":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"Linux SCSI Nexus": "[27:0:0:0]",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"Current Temperature": "",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"Array SW Version": "5.1"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73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Disks on Nimble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1112"/>
            <a:ext cx="10857807" cy="5043488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rtp-afa77-A:tmp# ./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lsdisks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Linux       SCSI                              Firmware    Drive     Block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SCSI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Slot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Device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Vendor       Product     Revision   Capacity   Length Temp    Serial Number        SAS Address       Device   Slot    Description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 ---------- -------- ---------------- -------- ------------ ------ ---- -------------------- ------------------ ---------- ---- -----------------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   ATA      INTEL SSDSC2BB48 N2010112    937703088   512  23 C PHDV7473006T480BGN   0x56c9ce9f002da2b9 /dev/sg48   0   ArrayDevice00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   ATA      INTEL SSDSC2BB48 N2010112    937703088   512  22 C PHDV749404B5480BGN   0x56c9ce9f002da3f9 /dev/sg48   4   ArrayDevice04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/dev/sg5   ATA      INTEL SSDSC2BB48 N2010112    937703088   512  23 C PHDV7473002W480BGN   0x56c9ce9f002da971 /dev/sg48   8   ArrayDevice08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/dev/sg7   ATA      INTEL SSDSC2BB48 N2010112    937703088   512  22 C PHDV745100A5480BGN   0x56c9ce9f002dadb1 /dev/sg48   12  ArrayDevice0C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sde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/dev/sg9   ATA      INTEL SSDSC2BB48 N2010112    937703088   512  22 C PHDV749404F1480BGN   0x56c9ce9f002daa09 /dev/sg48   16  ArrayDevice10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/dev/sg11  ATA      INTEL SSDSC2BB48 N2010112    937703088   512  22 C PHDV745000YC480BGN   0x56c9ce9f002da749 /dev/sg48   20  ArrayDevice14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sdg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/dev/sg13  ATA      INTEL SSDSC2BB48 N2010112    937703088   512  22 C PHDV7451003C480BGN   0x56c9ce9f002dae11 /dev/sg48   1   ArrayDevice01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sdh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/dev/sg15  ATA      INTEL SSDSC2BB48 N2010112    937703088   512  23 C PHDV74500195480BGN   0x56c9ce9f002da351 /dev/sg48   5   ArrayDevice05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/dev/sg17  ATA      INTEL SSDSC2BB48 N2010112    937703088   512  23 C PHDV74510140480BGN   0x56c9ce9f002da851 /dev/sg48   9   ArrayDevice09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sdj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/dev/sg19  ATA      INTEL SSDSC2BB48 N2010112    937703088   512  22 C PHDV74510038480BGN   0x56c9ce9f002daa19 /dev/sg48   13  ArrayDevice0D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/dev/sg21  ATA      INTEL SSDSC2BB48 N2010112    937703088   512  22 C PHDV745000YS480BGN   0x56c9ce9f002da7e9 /dev/sg48   17  ArrayDevice11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/dev/sg23  ATA      INTEL SSDSC2BB48 N2010112    937703088   512  22 C PHDV745101J0480BGN   0x56c9ce9f002da9c9 /dev/sg48   21  ArrayDevice15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sdm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/dev/sg25  ATA      INTEL SSDSC2BB48 N2010112    937703088   512  22 C PHDV7450014Q480BGN   0x56c9ce9f002db109 /dev/sg48   2   ArrayDevice02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sdn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/dev/sg27  ATA      INTEL SSDSC2BB48 N2010112    937703088   512  22 C PHDV747300ET480BGN   0x56c9ce9f002ddf49 /dev/sg48   6   ArrayDevice06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sdo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/dev/sg29  ATA      INTEL SSDSC2BB48 N2010112    937703088   512  23 C PHDV74730056480BGN   0x56c9ce9f002dada9 /dev/sg48   10  ArrayDevice0A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sdp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/dev/sg31  ATA      INTEL SSDSC2BB48 N2010112    937703088   512  22 C PHDV745000ZM480BGN   0x56c9ce9f002db0a1 /dev/sg48   14  ArrayDevice0E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sdq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/dev/sg33  ATA      INTEL SSDSC2BB48 N2010112    937703088   512  22 C PHDV7473005C480BGN   0x56c9ce9f002da6c9 /dev/sg48   18  ArrayDevice12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sdr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/dev/sg35  ATA      INTEL SSDSC2BB48 N2010112    937703088   512  23 C PHDV7473004F480BGN   0x56c9ce9f002dab41 /dev/sg48   22  ArrayDevice16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sds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/dev/sg37  ATA      INTEL SSDSC2BB48 N2010112    937703088   512  22 C PHDV7450015B480BGN   0x56c9ce9f002dade9 /dev/sg48   3   ArrayDevice03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/dev/sg39  ATA      INTEL SSDSC2BB48 N2010112    937703088   512  22 C PHDV7450017T480BGN   0x56c9ce9f002ddf89 /dev/sg48   7   ArrayDevice07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sdu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/dev/sg41  ATA      INTEL SSDSC2BB48 N2010112    937703088   512  22 C PHDV74500168480BGN   0x56c9ce9f002dac49 /dev/sg48   11  ArrayDevice0B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sdv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/dev/sg43  ATA      INTEL SSDSC2BB48 N2010112    937703088   512  22 C PHDV745000ZA480BGN   0x56c9ce9f002dac89 /dev/sg48   15  ArrayDevice0F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sdw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/dev/sg45  ATA      INTEL SSDSC2BB48 N2010112    937703088   512  22 C PHDV745000YN480BGN   0x56c9ce9f002da7b9 /dev/sg48   19  ArrayDevice13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sdx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/dev/sg47  ATA      INTEL SSDSC2BB48 N2010112    937703088   512  22 C PHDV747300F4480BGN   0x56c9ce9f002db051 /dev/sg48   23  ArrayDevice17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/dev/sg49  ATA      SQF-SM4U2-16G-9N S9FUA028     31277232   512       FEB40781040800295992                                                    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rtp-afa77-A:tmp#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08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721" y="1281112"/>
            <a:ext cx="9004746" cy="50434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Perform a Diagnostic Test</a:t>
            </a:r>
          </a:p>
          <a:p>
            <a:pPr>
              <a:spcBef>
                <a:spcPts val="600"/>
              </a:spcBef>
            </a:pPr>
            <a:r>
              <a:rPr lang="en-US" dirty="0"/>
              <a:t>Format: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1" dirty="0" err="1"/>
              <a:t>spt</a:t>
            </a:r>
            <a:r>
              <a:rPr lang="en-US" b="1" dirty="0"/>
              <a:t> test options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Test Options: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abort 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background test.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selftest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Standard self test.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bextended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Background extended self test.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bshort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Background short self test.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extended      Foreground extended self test.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short         Foreground short self test.</a:t>
            </a:r>
          </a:p>
          <a:p>
            <a:pPr>
              <a:spcBef>
                <a:spcPts val="600"/>
              </a:spcBef>
            </a:pPr>
            <a:r>
              <a:rPr lang="en-US" dirty="0"/>
              <a:t>Examples: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testself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 short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0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spt</a:t>
            </a:r>
            <a:r>
              <a:rPr lang="en-US" dirty="0"/>
              <a:t> Python Shared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022" y="1281112"/>
            <a:ext cx="9651999" cy="50434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Uses Python CTYPES to call </a:t>
            </a:r>
            <a:r>
              <a:rPr lang="en-US" dirty="0" err="1"/>
              <a:t>spt</a:t>
            </a:r>
            <a:r>
              <a:rPr lang="en-US" dirty="0"/>
              <a:t> shared library</a:t>
            </a:r>
          </a:p>
          <a:p>
            <a:pPr>
              <a:spcBef>
                <a:spcPts val="600"/>
              </a:spcBef>
            </a:pPr>
            <a:r>
              <a:rPr lang="en-US" dirty="0"/>
              <a:t>Snippet from </a:t>
            </a:r>
            <a:r>
              <a:rPr lang="en-US" dirty="0" err="1"/>
              <a:t>spt</a:t>
            </a:r>
            <a:r>
              <a:rPr lang="en-US" dirty="0"/>
              <a:t> unit test script (</a:t>
            </a:r>
            <a:r>
              <a:rPr lang="en-US" dirty="0" err="1"/>
              <a:t>sptp</a:t>
            </a:r>
            <a:r>
              <a:rPr lang="en-US" dirty="0"/>
              <a:t>/sptut.py):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Note: This will be packaged with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and copied to 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self.libspt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CDLL('./libspt.so')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self.sptapi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self.libspt.spt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self.program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(char *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    char *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stderr_buffer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stderr_length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    char *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    char *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emit_status_buffer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emit_status_length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self.sptapi.restype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self.sptapi.argtypes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c_char_p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c_char_p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c_char_p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c_char_p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{}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stderr_length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STDERR_BUFFER_SIZE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STDOUT_BUFFER_SIZE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emit_status_length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EMIT_BUFFER_SIZE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stderr_buffer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create_string_buffer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('\000' 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stderr_length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create_string_buffer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('\000' 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emit_status_buffer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create_string_buffer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('\000' 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emit_status_length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stdout_dict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None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self.spt_args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emit_dict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'] = None</a:t>
            </a: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>
              <a:spcBef>
                <a:spcPts val="0"/>
              </a:spcBef>
            </a:pPr>
            <a:r>
              <a:rPr lang="en-US" dirty="0">
                <a:cs typeface="Courier New" panose="02070309020205020404" pitchFamily="49" charset="0"/>
              </a:rPr>
              <a:t>sptut.py is Multi-Threaded Script calling Threaded </a:t>
            </a:r>
            <a:r>
              <a:rPr lang="en-US" dirty="0" err="1">
                <a:cs typeface="Courier New" panose="02070309020205020404" pitchFamily="49" charset="0"/>
              </a:rPr>
              <a:t>spt</a:t>
            </a:r>
            <a:r>
              <a:rPr lang="en-US" dirty="0">
                <a:cs typeface="Courier New" panose="02070309020205020404" pitchFamily="49" charset="0"/>
              </a:rPr>
              <a:t>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87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spt</a:t>
            </a:r>
            <a:r>
              <a:rPr lang="en-US" dirty="0"/>
              <a:t> Shared Library Unit Test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2324" y="1281112"/>
            <a:ext cx="8934697" cy="504348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./sptut.py --help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usage: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[-h] [--debug] [--verify]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optional arguments: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-h, --help  show this help message and exit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--debug     The debug flag. (Default: False)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--verify    Do verify media. (Default: False)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./sptut.py --verify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version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Author: Robin T. Miller, Date: October 29, 2018, Version: 3.16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show devices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=direct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Starting thread for 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retry=100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msleep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=100 enable=wait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Starting thread for 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retry=100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msleep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=100 enable=wait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Starting thread for 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retry=100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msleep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=100 enable=wait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Starting thread for 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retry=100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msleep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=100 enable=wait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inquiry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readcapacity16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inquiry page=serial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Executing: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=/dev/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=0x8f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=32k limit=1g threads=1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showopcodes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verify |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0x8f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0x8f    0x00      none      yes     no         65536  Verify(16)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320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452" y="1181101"/>
            <a:ext cx="9657347" cy="4903176"/>
          </a:xfrm>
        </p:spPr>
        <p:txBody>
          <a:bodyPr>
            <a:normAutofit/>
          </a:bodyPr>
          <a:lstStyle/>
          <a:p>
            <a:r>
              <a:rPr lang="en-US" dirty="0"/>
              <a:t>Finish adding SES diagnostic page support.</a:t>
            </a:r>
          </a:p>
          <a:p>
            <a:r>
              <a:rPr lang="en-US" dirty="0"/>
              <a:t>Add more Inquiry, Log, and Mode pages.</a:t>
            </a:r>
          </a:p>
          <a:p>
            <a:r>
              <a:rPr lang="en-US" dirty="0"/>
              <a:t>Add firmware download and Format support.</a:t>
            </a:r>
          </a:p>
          <a:p>
            <a:r>
              <a:rPr lang="en-US" dirty="0"/>
              <a:t>Add JSON output format for other SCSI operations.</a:t>
            </a:r>
          </a:p>
          <a:p>
            <a:r>
              <a:rPr lang="en-US" dirty="0"/>
              <a:t>Add SCSI compliance verification.</a:t>
            </a:r>
          </a:p>
          <a:p>
            <a:r>
              <a:rPr lang="en-US" dirty="0"/>
              <a:t>Add support for Linux “</a:t>
            </a:r>
            <a:r>
              <a:rPr lang="en-US" dirty="0" err="1"/>
              <a:t>bsg</a:t>
            </a:r>
            <a:r>
              <a:rPr lang="en-US" dirty="0"/>
              <a:t>” SCSI interface.</a:t>
            </a:r>
          </a:p>
          <a:p>
            <a:r>
              <a:rPr lang="en-US" dirty="0"/>
              <a:t>Add support for multiple devices. (like </a:t>
            </a:r>
            <a:r>
              <a:rPr lang="en-US" dirty="0" err="1"/>
              <a:t>dt</a:t>
            </a:r>
            <a:r>
              <a:rPr lang="en-US" dirty="0"/>
              <a:t>)</a:t>
            </a:r>
          </a:p>
          <a:p>
            <a:r>
              <a:rPr lang="en-US" dirty="0"/>
              <a:t>Job Control for waiting on </a:t>
            </a:r>
            <a:r>
              <a:rPr lang="en-US" dirty="0" err="1"/>
              <a:t>Async</a:t>
            </a:r>
            <a:r>
              <a:rPr lang="en-US" dirty="0"/>
              <a:t> Threads. (like </a:t>
            </a:r>
            <a:r>
              <a:rPr lang="en-US" dirty="0" err="1"/>
              <a:t>dt</a:t>
            </a:r>
            <a:r>
              <a:rPr lang="en-US" dirty="0"/>
              <a:t>)</a:t>
            </a:r>
          </a:p>
          <a:p>
            <a:r>
              <a:rPr lang="en-US" dirty="0"/>
              <a:t>Add server/client message passing using </a:t>
            </a:r>
            <a:r>
              <a:rPr lang="en-US" dirty="0" err="1"/>
              <a:t>ZeroMQ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4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16911</TotalTime>
  <Words>6411</Words>
  <Application>Microsoft Office PowerPoint</Application>
  <PresentationFormat>Widescreen</PresentationFormat>
  <Paragraphs>726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Wingdings</vt:lpstr>
      <vt:lpstr>Office Theme</vt:lpstr>
      <vt:lpstr> SCSI Pass-Through (SPT) 2019 Update (TOI) by Robin T. Miller Robin.Miller@hpe.com</vt:lpstr>
      <vt:lpstr>Agenda</vt:lpstr>
      <vt:lpstr>SCSI Pass-Through (SPT) Utility</vt:lpstr>
      <vt:lpstr>Why Use This SPT Tool?</vt:lpstr>
      <vt:lpstr>SPT Features</vt:lpstr>
      <vt:lpstr>New SPT Version 3.x Features</vt:lpstr>
      <vt:lpstr>SCSI XCOPY Acronyms</vt:lpstr>
      <vt:lpstr>What Are (some of) The Differences?</vt:lpstr>
      <vt:lpstr>SCSI Pass-Through (SPT) Support</vt:lpstr>
      <vt:lpstr>Preparing Disks for Extended Copy Testing</vt:lpstr>
      <vt:lpstr>Non-Token Based XCOPY</vt:lpstr>
      <vt:lpstr>Token Based XCOPY Example</vt:lpstr>
      <vt:lpstr>Verifying the XCOPY Operation</vt:lpstr>
      <vt:lpstr>Alternate Data Verification with dt Tool</vt:lpstr>
      <vt:lpstr>Zero ROD Token to Unmap Blocks</vt:lpstr>
      <vt:lpstr>SES LED Control (useful on array)</vt:lpstr>
      <vt:lpstr>Log Pages</vt:lpstr>
      <vt:lpstr>Request Sense</vt:lpstr>
      <vt:lpstr>Show Device Information</vt:lpstr>
      <vt:lpstr>Show Devices Example</vt:lpstr>
      <vt:lpstr>Show Devices Fields Example</vt:lpstr>
      <vt:lpstr>Show Device JSON Output Example</vt:lpstr>
      <vt:lpstr>Show SCSI Sense Information</vt:lpstr>
      <vt:lpstr>List Disks Script</vt:lpstr>
      <vt:lpstr>List Disks Example</vt:lpstr>
      <vt:lpstr>List Disks Long Format Example</vt:lpstr>
      <vt:lpstr>List Disks JSON Format Example</vt:lpstr>
      <vt:lpstr>List Disks on Nimble Array</vt:lpstr>
      <vt:lpstr>Test Commands</vt:lpstr>
      <vt:lpstr>spt Python Shared Library</vt:lpstr>
      <vt:lpstr>spt Shared Library Unit Test Script</vt:lpstr>
      <vt:lpstr>SPT Roadmap</vt:lpstr>
    </vt:vector>
  </TitlesOfParts>
  <Company>HGST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 v14 to v21 Overview by Robin T. Miller Robin.Miller@hgst.com</dc:title>
  <dc:creator>Robin Miller</dc:creator>
  <cp:lastModifiedBy>Robin Miller</cp:lastModifiedBy>
  <cp:revision>1004</cp:revision>
  <dcterms:created xsi:type="dcterms:W3CDTF">2016-06-04T18:00:47Z</dcterms:created>
  <dcterms:modified xsi:type="dcterms:W3CDTF">2025-09-23T15:08:55Z</dcterms:modified>
</cp:coreProperties>
</file>