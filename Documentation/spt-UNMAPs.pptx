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2" r:id="rId1"/>
  </p:sldMasterIdLst>
  <p:notesMasterIdLst>
    <p:notesMasterId r:id="rId20"/>
  </p:notesMasterIdLst>
  <p:sldIdLst>
    <p:sldId id="256" r:id="rId2"/>
    <p:sldId id="258" r:id="rId3"/>
    <p:sldId id="282" r:id="rId4"/>
    <p:sldId id="259" r:id="rId5"/>
    <p:sldId id="283" r:id="rId6"/>
    <p:sldId id="284" r:id="rId7"/>
    <p:sldId id="285" r:id="rId8"/>
    <p:sldId id="286" r:id="rId9"/>
    <p:sldId id="287" r:id="rId10"/>
    <p:sldId id="288" r:id="rId11"/>
    <p:sldId id="290" r:id="rId12"/>
    <p:sldId id="289" r:id="rId13"/>
    <p:sldId id="293" r:id="rId14"/>
    <p:sldId id="297" r:id="rId15"/>
    <p:sldId id="294" r:id="rId16"/>
    <p:sldId id="292" r:id="rId17"/>
    <p:sldId id="295" r:id="rId18"/>
    <p:sldId id="29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Shape 104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0" name="Shape 105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8901021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Shape 106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65" name="Shape 10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AI: Check presentations to see the P/E cycles for different vendors</a:t>
            </a:r>
          </a:p>
        </p:txBody>
      </p:sp>
    </p:spTree>
    <p:extLst>
      <p:ext uri="{BB962C8B-B14F-4D97-AF65-F5344CB8AC3E}">
        <p14:creationId xmlns:p14="http://schemas.microsoft.com/office/powerpoint/2010/main" val="366011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Shape 106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65" name="Shape 10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AI: Check presentations to see the P/E cycles for different vendors</a:t>
            </a:r>
          </a:p>
        </p:txBody>
      </p:sp>
    </p:spTree>
    <p:extLst>
      <p:ext uri="{BB962C8B-B14F-4D97-AF65-F5344CB8AC3E}">
        <p14:creationId xmlns:p14="http://schemas.microsoft.com/office/powerpoint/2010/main" val="1761155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Shape 107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1" name="Shape 10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AI: Check presentations to see the P/E cycles for different vendors</a:t>
            </a:r>
          </a:p>
        </p:txBody>
      </p:sp>
    </p:spTree>
    <p:extLst>
      <p:ext uri="{BB962C8B-B14F-4D97-AF65-F5344CB8AC3E}">
        <p14:creationId xmlns:p14="http://schemas.microsoft.com/office/powerpoint/2010/main" val="641719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113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4DDB0-2DD7-4C92-9629-23A068CCC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E74F1-4AC5-5237-E8C7-24B4D7C8D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70148-5E7C-7EC3-DB68-23A3406ED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110C5-061A-9AE5-4D30-BEA2B2AE5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05276-C1F3-BC11-4116-6856A099D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7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86F09-2F6C-76F9-8000-DE2398F39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98FF9-C097-24F1-F782-A42FF59B3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2742C-F1D8-B8C5-EB9E-5FB84EE0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45FEA-24F6-59EA-9361-B4B249C8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3E970-B835-1575-2165-C7837AFE3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53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5553-FD78-2B22-8610-A472DABF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634E1-85F8-A3E3-CC66-2761ADEBC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E53-EF3C-2A17-A598-161B2475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CD1B7-397A-E35F-2CD5-92FC83B27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F9741-C1C5-50F7-15EE-B8059494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5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0D6DB-C624-C7C6-66B8-27BA90AD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7B7C5-2BB0-3538-D4A1-0FA0D8527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696898-2CCD-20DA-08CA-E61DDBB68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286DE-5191-D98A-B8FF-BDD19762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9F35D-ADB3-8EB4-F3EC-12647F428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B78A3-2A06-63E3-DB08-3A189BE3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29688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D93DD-F0A8-8D9E-DC82-693D716A5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6E784-4801-5054-BA7E-10A75F9C3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063BF-F774-BF01-CFE9-06BF10A12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4E727-C30F-6E9B-C38A-D269D22FD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BD39C6-5B66-E8C1-E31C-E438BD0EC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E49B5E-3BF1-EA4A-B829-79BB1E035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04D1D7-C6A7-E582-B4B3-699D74CE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5FB34-DD88-3455-6C0A-E7113B3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01245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4926-F5E6-95EA-E1D6-728CF1CB0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040C6-1740-0718-B82B-3C26D8CA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80E21A-F53D-DC7B-B166-43F717E83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125C1-3615-DBA0-ABB5-410AD1FD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17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00234D-805D-102B-0622-D38E959D6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FFE6B-C422-3FA8-4167-849381B91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0C781-90EE-EB50-919D-9D481957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7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4A042-3691-F912-7594-7C644C804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DAAB3-8249-693C-E8FB-563285190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DD1CD-F6F8-4F38-B890-7BD24504D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85E59-9119-A0A2-76F1-7FF16F5D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6FCEA-467E-B0A7-1B11-FEAB26DC2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66998-63E8-A612-82B5-46C82CC81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2814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3DCF-513C-ED35-2455-4ED881B75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9EC1D-DBCD-5195-591A-AB1922D9A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8B741-F774-DE98-FA3A-EDB8AB8E0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39439-CDD8-032F-96A9-0A8A2E883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7F740-1151-FBAF-CFED-CE21D020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99A22-1C49-E8C9-F921-7FADC6E0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95231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3DC6-7B15-0F4A-94FB-48B7D4AAC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A2696-EB9F-509C-43A3-93760690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A2F9B-C0DA-1598-EBCF-E2EF9614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E0BBE-3656-707D-816F-38ACED0EA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D873D-4259-477E-906F-985141512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9284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688C82-0688-06B1-903D-8E35207659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0EF157-6EB2-65E6-B0ED-D296B7192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6CE9A-F8D5-163C-90EC-4F338CA2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0D1B7-3C55-CD42-810A-300FAE466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F20C4-08F0-2C58-DA2D-6DB43993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94946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0_Title Slide with Dark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slide with picture"/>
          <p:cNvSpPr txBox="1">
            <a:spLocks noGrp="1"/>
          </p:cNvSpPr>
          <p:nvPr>
            <p:ph type="title" hasCustomPrompt="1"/>
          </p:nvPr>
        </p:nvSpPr>
        <p:spPr>
          <a:xfrm>
            <a:off x="610392" y="2209800"/>
            <a:ext cx="8914608" cy="19050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6600">
                <a:solidFill>
                  <a:srgbClr val="FFFFFF"/>
                </a:solidFill>
              </a:defRPr>
            </a:lvl1pPr>
          </a:lstStyle>
          <a:p>
            <a:r>
              <a:t>Title slide with picture</a:t>
            </a:r>
          </a:p>
        </p:txBody>
      </p:sp>
      <p:sp>
        <p:nvSpPr>
          <p:cNvPr id="9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012" y="4267200"/>
            <a:ext cx="8229601" cy="914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200">
                <a:solidFill>
                  <a:srgbClr val="FFFFFF"/>
                </a:solidFill>
              </a:defRPr>
            </a:lvl1pPr>
            <a:lvl2pPr marL="0" indent="457200">
              <a:spcBef>
                <a:spcPts val="0"/>
              </a:spcBef>
              <a:buSzTx/>
              <a:buFontTx/>
              <a:buNone/>
              <a:defRPr sz="3200">
                <a:solidFill>
                  <a:srgbClr val="FFFFFF"/>
                </a:solidFill>
              </a:defRPr>
            </a:lvl2pPr>
            <a:lvl3pPr marL="0" indent="914400">
              <a:spcBef>
                <a:spcPts val="0"/>
              </a:spcBef>
              <a:buSzTx/>
              <a:buFontTx/>
              <a:buNone/>
              <a:defRPr sz="3200">
                <a:solidFill>
                  <a:srgbClr val="FFFFFF"/>
                </a:solidFill>
              </a:defRPr>
            </a:lvl3pPr>
            <a:lvl4pPr marL="0" indent="1371600">
              <a:spcBef>
                <a:spcPts val="0"/>
              </a:spcBef>
              <a:buSzTx/>
              <a:buFontTx/>
              <a:buNone/>
              <a:defRPr sz="3200">
                <a:solidFill>
                  <a:srgbClr val="FFFFFF"/>
                </a:solidFill>
              </a:defRPr>
            </a:lvl4pPr>
            <a:lvl5pPr marL="0" indent="1828800">
              <a:spcBef>
                <a:spcPts val="0"/>
              </a:spcBef>
              <a:buSzTx/>
              <a:buFontTx/>
              <a:buNone/>
              <a:defRPr sz="3200">
                <a:solidFill>
                  <a:srgbClr val="FFFFFF"/>
                </a:solidFill>
              </a:defRPr>
            </a:lvl5pPr>
          </a:lstStyle>
          <a:p>
            <a:r>
              <a:t>Speaker name and 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6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06422" y="5821834"/>
            <a:ext cx="5489580" cy="33921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t>Month day, year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86367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D499D6-18B1-B273-A36A-7C24769FC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81631-18CD-FE22-74C7-0C417EDD4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4DDC7-CFCC-DA52-353E-6DEF55B36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ED7BD-A971-95C4-7B70-1C0E43FFE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91F41-D60E-F693-8340-2D8A150BE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4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rt.veritas.com/public/documents/vie/7.2/linux/productguides/html/sf_admin/ch23s04.ht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fio.readthedocs.io/en/latest/fio_man.html?highlight=file%20trim#cmdoption-arg-trim-percentag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Title 1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>
                <a:solidFill>
                  <a:schemeClr val="tx1">
                    <a:lumMod val="95000"/>
                    <a:lumOff val="5000"/>
                  </a:schemeClr>
                </a:solidFill>
              </a:rPr>
              <a:t>SCSI Pass-Through (SPT) UNMAPs</a:t>
            </a:r>
          </a:p>
        </p:txBody>
      </p:sp>
      <p:sp>
        <p:nvSpPr>
          <p:cNvPr id="1053" name="Subtitle 2"/>
          <p:cNvSpPr txBox="1">
            <a:spLocks noGrp="1"/>
          </p:cNvSpPr>
          <p:nvPr>
            <p:ph type="body" sz="quarter" idx="1"/>
          </p:nvPr>
        </p:nvSpPr>
        <p:spPr>
          <a:xfrm>
            <a:off x="1024128" y="2286000"/>
            <a:ext cx="6066818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>
              <a:defRPr sz="2800"/>
            </a:lvl1pPr>
          </a:lstStyle>
          <a:p>
            <a:r>
              <a:rPr lang="en-US" dirty="0">
                <a:solidFill>
                  <a:schemeClr val="tx1"/>
                </a:solidFill>
              </a:rPr>
              <a:t>Robin T. Miller</a:t>
            </a:r>
          </a:p>
          <a:p>
            <a:r>
              <a:rPr lang="en-US" dirty="0">
                <a:solidFill>
                  <a:schemeClr val="tx1"/>
                </a:solidFill>
              </a:rPr>
              <a:t>December 18</a:t>
            </a:r>
            <a:r>
              <a:rPr lang="en-US" baseline="30000" dirty="0">
                <a:solidFill>
                  <a:schemeClr val="tx1"/>
                </a:solidFill>
              </a:rPr>
              <a:t>th</a:t>
            </a:r>
            <a:r>
              <a:rPr lang="en-US" dirty="0">
                <a:solidFill>
                  <a:schemeClr val="tx1"/>
                </a:solidFill>
              </a:rPr>
              <a:t>, 2020</a:t>
            </a:r>
          </a:p>
          <a:p>
            <a:r>
              <a:rPr lang="en-US" b="1" dirty="0">
                <a:solidFill>
                  <a:schemeClr val="tx1"/>
                </a:solidFill>
              </a:rPr>
              <a:t>Updated </a:t>
            </a:r>
            <a:r>
              <a:rPr lang="en-US" dirty="0">
                <a:solidFill>
                  <a:schemeClr val="tx1"/>
                </a:solidFill>
              </a:rPr>
              <a:t>September 25</a:t>
            </a:r>
            <a:r>
              <a:rPr lang="en-US" baseline="30000" dirty="0">
                <a:solidFill>
                  <a:schemeClr val="tx1"/>
                </a:solidFill>
              </a:rPr>
              <a:t>th</a:t>
            </a:r>
            <a:r>
              <a:rPr lang="en-US" dirty="0">
                <a:solidFill>
                  <a:schemeClr val="tx1"/>
                </a:solidFill>
              </a:rPr>
              <a:t>, 2025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>
          <a:xfrm>
            <a:off x="10837333" y="6470704"/>
            <a:ext cx="973667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86CB4B4D-7CA3-9044-876B-883B54F8677D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055" name="Picture 1054" descr="Smoke pattern on snow">
            <a:extLst>
              <a:ext uri="{FF2B5EF4-FFF2-40B4-BE49-F238E27FC236}">
                <a16:creationId xmlns:a16="http://schemas.microsoft.com/office/drawing/2014/main" id="{A79E69EC-ECD8-0288-14EA-E343BA6A4B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13" r="30508" b="-2"/>
          <a:stretch>
            <a:fillRect/>
          </a:stretch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Title 2"/>
          <p:cNvSpPr txBox="1">
            <a:spLocks noGrp="1"/>
          </p:cNvSpPr>
          <p:nvPr>
            <p:ph type="title"/>
          </p:nvPr>
        </p:nvSpPr>
        <p:spPr>
          <a:xfrm>
            <a:off x="609441" y="519235"/>
            <a:ext cx="10969943" cy="55342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Topics</a:t>
            </a:r>
          </a:p>
        </p:txBody>
      </p:sp>
      <p:sp>
        <p:nvSpPr>
          <p:cNvPr id="1062" name="Content Placeholder 1"/>
          <p:cNvSpPr txBox="1">
            <a:spLocks noGrp="1"/>
          </p:cNvSpPr>
          <p:nvPr>
            <p:ph idx="1"/>
          </p:nvPr>
        </p:nvSpPr>
        <p:spPr>
          <a:xfrm>
            <a:off x="1406768" y="1250576"/>
            <a:ext cx="10174123" cy="4845423"/>
          </a:xfrm>
          <a:prstGeom prst="rect">
            <a:avLst/>
          </a:prstGeom>
        </p:spPr>
        <p:txBody>
          <a:bodyPr/>
          <a:lstStyle/>
          <a:p>
            <a:pPr defTabSz="731520">
              <a:lnSpc>
                <a:spcPct val="81000"/>
              </a:lnSpc>
              <a:spcBef>
                <a:spcPts val="900"/>
              </a:spcBef>
              <a:buFont typeface="Wingdings" panose="05000000000000000000" pitchFamily="2" charset="2"/>
              <a:buChar char="§"/>
              <a:defRPr sz="1920"/>
            </a:pPr>
            <a:r>
              <a:rPr lang="en-US" sz="2800" dirty="0"/>
              <a:t>Overview of UNMAPs</a:t>
            </a:r>
          </a:p>
          <a:p>
            <a:pPr defTabSz="731520">
              <a:lnSpc>
                <a:spcPct val="81000"/>
              </a:lnSpc>
              <a:spcBef>
                <a:spcPts val="900"/>
              </a:spcBef>
              <a:buFont typeface="Wingdings" panose="05000000000000000000" pitchFamily="2" charset="2"/>
              <a:buChar char="§"/>
              <a:defRPr sz="1920"/>
            </a:pPr>
            <a:r>
              <a:rPr lang="en-US" sz="2800" dirty="0"/>
              <a:t>SCSI UNMAP Methods</a:t>
            </a:r>
          </a:p>
          <a:p>
            <a:pPr defTabSz="731520">
              <a:lnSpc>
                <a:spcPct val="81000"/>
              </a:lnSpc>
              <a:spcBef>
                <a:spcPts val="900"/>
              </a:spcBef>
              <a:buFont typeface="Wingdings" panose="05000000000000000000" pitchFamily="2" charset="2"/>
              <a:buChar char="§"/>
              <a:defRPr sz="1920"/>
            </a:pPr>
            <a:r>
              <a:rPr lang="en-US" sz="2800" dirty="0"/>
              <a:t>Host File System Support</a:t>
            </a:r>
          </a:p>
          <a:p>
            <a:pPr defTabSz="731520">
              <a:lnSpc>
                <a:spcPct val="81000"/>
              </a:lnSpc>
              <a:spcBef>
                <a:spcPts val="900"/>
              </a:spcBef>
              <a:buFont typeface="Wingdings" panose="05000000000000000000" pitchFamily="2" charset="2"/>
              <a:buChar char="§"/>
              <a:defRPr sz="1920"/>
            </a:pPr>
            <a:r>
              <a:rPr lang="en-US" sz="3200" dirty="0"/>
              <a:t>Futures</a:t>
            </a:r>
          </a:p>
        </p:txBody>
      </p:sp>
      <p:sp>
        <p:nvSpPr>
          <p:cNvPr id="1063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11455399" y="6441062"/>
            <a:ext cx="127001" cy="22195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Title 2"/>
          <p:cNvSpPr txBox="1">
            <a:spLocks noGrp="1"/>
          </p:cNvSpPr>
          <p:nvPr>
            <p:ph type="title"/>
          </p:nvPr>
        </p:nvSpPr>
        <p:spPr>
          <a:xfrm>
            <a:off x="609441" y="519235"/>
            <a:ext cx="10969943" cy="46550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Overview of UNMAPs</a:t>
            </a:r>
            <a:endParaRPr dirty="0"/>
          </a:p>
        </p:txBody>
      </p:sp>
      <p:sp>
        <p:nvSpPr>
          <p:cNvPr id="1062" name="Content Placeholder 1"/>
          <p:cNvSpPr txBox="1">
            <a:spLocks noGrp="1"/>
          </p:cNvSpPr>
          <p:nvPr>
            <p:ph idx="1"/>
          </p:nvPr>
        </p:nvSpPr>
        <p:spPr>
          <a:xfrm>
            <a:off x="1406768" y="1250576"/>
            <a:ext cx="10174123" cy="4845423"/>
          </a:xfrm>
          <a:prstGeom prst="rect">
            <a:avLst/>
          </a:prstGeom>
        </p:spPr>
        <p:txBody>
          <a:bodyPr/>
          <a:lstStyle/>
          <a:p>
            <a:pPr defTabSz="731520">
              <a:lnSpc>
                <a:spcPct val="81000"/>
              </a:lnSpc>
              <a:spcBef>
                <a:spcPts val="900"/>
              </a:spcBef>
              <a:buFont typeface="Wingdings" panose="05000000000000000000" pitchFamily="2" charset="2"/>
              <a:buChar char="§"/>
              <a:defRPr sz="1920"/>
            </a:pPr>
            <a:r>
              <a:rPr lang="en-US" sz="2400" dirty="0"/>
              <a:t>Supported on Thinly Provisioned Storage</a:t>
            </a:r>
          </a:p>
          <a:p>
            <a:pPr defTabSz="731520">
              <a:lnSpc>
                <a:spcPct val="81000"/>
              </a:lnSpc>
              <a:spcBef>
                <a:spcPts val="900"/>
              </a:spcBef>
              <a:buFont typeface="Wingdings" panose="05000000000000000000" pitchFamily="2" charset="2"/>
              <a:buChar char="§"/>
              <a:defRPr sz="1920"/>
            </a:pPr>
            <a:r>
              <a:rPr lang="en-US" sz="2400" dirty="0"/>
              <a:t>Allow arrays to efficiently reuse freed blocks</a:t>
            </a:r>
          </a:p>
          <a:p>
            <a:pPr defTabSz="731520">
              <a:lnSpc>
                <a:spcPct val="81000"/>
              </a:lnSpc>
              <a:spcBef>
                <a:spcPts val="900"/>
              </a:spcBef>
              <a:buFont typeface="Wingdings" panose="05000000000000000000" pitchFamily="2" charset="2"/>
              <a:buChar char="§"/>
              <a:defRPr sz="1920"/>
            </a:pPr>
            <a:r>
              <a:rPr lang="en-US" sz="2400" dirty="0"/>
              <a:t>Host File Systems support via File Trim Operations</a:t>
            </a:r>
          </a:p>
          <a:p>
            <a:pPr marL="397764" lvl="1" indent="-146303" defTabSz="731520">
              <a:lnSpc>
                <a:spcPct val="81000"/>
              </a:lnSpc>
              <a:spcBef>
                <a:spcPts val="900"/>
              </a:spcBef>
              <a:buChar char="•"/>
              <a:defRPr sz="1920"/>
            </a:pPr>
            <a:r>
              <a:rPr lang="en-US" sz="2400" dirty="0"/>
              <a:t>File Trim operations converted into SCSI UNMAP commands</a:t>
            </a:r>
          </a:p>
          <a:p>
            <a:pPr marL="397764" lvl="1" indent="-146303" defTabSz="731520">
              <a:lnSpc>
                <a:spcPct val="81000"/>
              </a:lnSpc>
              <a:spcBef>
                <a:spcPts val="900"/>
              </a:spcBef>
              <a:buChar char="•"/>
              <a:defRPr sz="1920"/>
            </a:pPr>
            <a:r>
              <a:rPr lang="en-US" sz="2400" dirty="0"/>
              <a:t>Windows enables File Trims automatically for NTFS</a:t>
            </a:r>
          </a:p>
          <a:p>
            <a:pPr marL="397764" lvl="1" indent="-146303" defTabSz="731520">
              <a:lnSpc>
                <a:spcPct val="81000"/>
              </a:lnSpc>
              <a:spcBef>
                <a:spcPts val="900"/>
              </a:spcBef>
              <a:buChar char="•"/>
              <a:defRPr sz="1920"/>
            </a:pPr>
            <a:r>
              <a:rPr lang="en-US" sz="2400" dirty="0"/>
              <a:t>Linux file systems support this via the </a:t>
            </a:r>
            <a:r>
              <a:rPr lang="en-US" sz="2400" b="1" dirty="0"/>
              <a:t>“-o discard</a:t>
            </a:r>
            <a:r>
              <a:rPr lang="en-US" sz="2400" dirty="0"/>
              <a:t>” </a:t>
            </a:r>
            <a:r>
              <a:rPr lang="en-US" sz="2400" i="1" dirty="0"/>
              <a:t>mount</a:t>
            </a:r>
            <a:r>
              <a:rPr lang="en-US" sz="2400" dirty="0"/>
              <a:t> option</a:t>
            </a:r>
          </a:p>
          <a:p>
            <a:pPr marL="551252" lvl="2" indent="-146303" defTabSz="731520">
              <a:lnSpc>
                <a:spcPct val="81000"/>
              </a:lnSpc>
              <a:spcBef>
                <a:spcPts val="900"/>
              </a:spcBef>
              <a:buChar char="•"/>
              <a:defRPr sz="1920"/>
            </a:pPr>
            <a:r>
              <a:rPr lang="en-US" sz="2400" dirty="0"/>
              <a:t>verified on ext4 and XFS file systems</a:t>
            </a:r>
          </a:p>
          <a:p>
            <a:pPr marL="397764" lvl="1" indent="-146303" defTabSz="731520">
              <a:lnSpc>
                <a:spcPct val="81000"/>
              </a:lnSpc>
              <a:spcBef>
                <a:spcPts val="900"/>
              </a:spcBef>
              <a:buChar char="•"/>
              <a:defRPr sz="1920"/>
            </a:pPr>
            <a:r>
              <a:rPr lang="en-US" sz="2400" dirty="0">
                <a:hlinkClick r:id="rId3"/>
              </a:rPr>
              <a:t>Veritas </a:t>
            </a:r>
            <a:r>
              <a:rPr lang="en-US" sz="2400" dirty="0"/>
              <a:t>supports similar via </a:t>
            </a:r>
            <a:r>
              <a:rPr lang="en-US" sz="2400" i="1" dirty="0" err="1"/>
              <a:t>fsadm</a:t>
            </a:r>
            <a:r>
              <a:rPr lang="en-US" sz="2400" dirty="0"/>
              <a:t> options</a:t>
            </a:r>
          </a:p>
          <a:p>
            <a:pPr marL="397764" lvl="1" indent="-146303" defTabSz="731520">
              <a:lnSpc>
                <a:spcPct val="81000"/>
              </a:lnSpc>
              <a:spcBef>
                <a:spcPts val="900"/>
              </a:spcBef>
              <a:buChar char="•"/>
              <a:defRPr sz="1920"/>
            </a:pPr>
            <a:r>
              <a:rPr lang="en-US" sz="2400" dirty="0"/>
              <a:t>File Trims triggered by freeing blocks: file </a:t>
            </a:r>
            <a:r>
              <a:rPr lang="en-US" sz="2400" dirty="0">
                <a:solidFill>
                  <a:srgbClr val="0070C0"/>
                </a:solidFill>
              </a:rPr>
              <a:t>delete</a:t>
            </a:r>
            <a:r>
              <a:rPr lang="en-US" sz="2400" dirty="0"/>
              <a:t>, file </a:t>
            </a:r>
            <a:r>
              <a:rPr lang="en-US" sz="2400" dirty="0">
                <a:solidFill>
                  <a:srgbClr val="0070C0"/>
                </a:solidFill>
              </a:rPr>
              <a:t>truncate</a:t>
            </a:r>
          </a:p>
          <a:p>
            <a:pPr defTabSz="731520">
              <a:lnSpc>
                <a:spcPct val="81000"/>
              </a:lnSpc>
              <a:spcBef>
                <a:spcPts val="900"/>
              </a:spcBef>
              <a:buFont typeface="Wingdings" panose="05000000000000000000" pitchFamily="2" charset="2"/>
              <a:buChar char="§"/>
              <a:defRPr sz="1920"/>
            </a:pPr>
            <a:r>
              <a:rPr lang="en-US" sz="2400" dirty="0"/>
              <a:t>Host SCSI tools exist to verify UNMAP operations on direct disks</a:t>
            </a:r>
          </a:p>
        </p:txBody>
      </p:sp>
      <p:sp>
        <p:nvSpPr>
          <p:cNvPr id="1063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11455399" y="6441062"/>
            <a:ext cx="127001" cy="22195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540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Title 2"/>
          <p:cNvSpPr txBox="1">
            <a:spLocks noGrp="1"/>
          </p:cNvSpPr>
          <p:nvPr>
            <p:ph type="title"/>
          </p:nvPr>
        </p:nvSpPr>
        <p:spPr>
          <a:xfrm>
            <a:off x="609441" y="519235"/>
            <a:ext cx="10969943" cy="46550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SCSI UNMAP Methods</a:t>
            </a:r>
            <a:endParaRPr dirty="0"/>
          </a:p>
        </p:txBody>
      </p:sp>
      <p:sp>
        <p:nvSpPr>
          <p:cNvPr id="1068" name="Content Placeholder 1"/>
          <p:cNvSpPr txBox="1">
            <a:spLocks noGrp="1"/>
          </p:cNvSpPr>
          <p:nvPr>
            <p:ph idx="1"/>
          </p:nvPr>
        </p:nvSpPr>
        <p:spPr>
          <a:xfrm>
            <a:off x="1198611" y="1125415"/>
            <a:ext cx="10969784" cy="479083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buFont typeface="Wingdings" panose="05000000000000000000" pitchFamily="2" charset="2"/>
              <a:buChar char="§"/>
              <a:defRPr sz="2400"/>
            </a:pPr>
            <a:r>
              <a:rPr lang="en-US" dirty="0"/>
              <a:t>Multiple methods available:</a:t>
            </a:r>
          </a:p>
          <a:p>
            <a:pPr lvl="1">
              <a:lnSpc>
                <a:spcPct val="81000"/>
              </a:lnSpc>
              <a:buChar char="•"/>
              <a:defRPr sz="2400"/>
            </a:pPr>
            <a:r>
              <a:rPr lang="en-US" dirty="0"/>
              <a:t>SCSI UNMAP command (opcode </a:t>
            </a:r>
            <a:r>
              <a:rPr lang="en-US" b="1" dirty="0"/>
              <a:t>0x42</a:t>
            </a:r>
            <a:r>
              <a:rPr lang="en-US" dirty="0"/>
              <a:t>)</a:t>
            </a:r>
          </a:p>
          <a:p>
            <a:pPr lvl="1">
              <a:lnSpc>
                <a:spcPct val="81000"/>
              </a:lnSpc>
              <a:buChar char="•"/>
              <a:defRPr sz="2400"/>
            </a:pPr>
            <a:r>
              <a:rPr lang="en-US" dirty="0"/>
              <a:t>Write Same 16 with </a:t>
            </a:r>
            <a:r>
              <a:rPr lang="en-US" dirty="0" err="1"/>
              <a:t>unmap</a:t>
            </a:r>
            <a:r>
              <a:rPr lang="en-US" dirty="0"/>
              <a:t> (opcode </a:t>
            </a:r>
            <a:r>
              <a:rPr lang="en-US" b="1" dirty="0"/>
              <a:t>0x93,0x08</a:t>
            </a:r>
            <a:r>
              <a:rPr lang="en-US" dirty="0"/>
              <a:t>)</a:t>
            </a:r>
          </a:p>
          <a:p>
            <a:pPr lvl="1">
              <a:lnSpc>
                <a:spcPct val="81000"/>
              </a:lnSpc>
              <a:buChar char="•"/>
              <a:defRPr sz="2400"/>
            </a:pPr>
            <a:r>
              <a:rPr lang="en-US" dirty="0"/>
              <a:t>Write Using Token (WUT) with Zero ROD (</a:t>
            </a:r>
            <a:r>
              <a:rPr lang="en-US" b="1" dirty="0"/>
              <a:t>0x83,0x11</a:t>
            </a:r>
            <a:r>
              <a:rPr lang="en-US" dirty="0"/>
              <a:t>)</a:t>
            </a:r>
          </a:p>
          <a:p>
            <a:pPr>
              <a:lnSpc>
                <a:spcPct val="81000"/>
              </a:lnSpc>
              <a:buFont typeface="Wingdings" panose="05000000000000000000" pitchFamily="2" charset="2"/>
              <a:buChar char="§"/>
              <a:defRPr sz="2400"/>
            </a:pPr>
            <a:r>
              <a:rPr lang="en-US" dirty="0"/>
              <a:t>SCSI UNMAP is the most popular method</a:t>
            </a:r>
          </a:p>
          <a:p>
            <a:pPr>
              <a:lnSpc>
                <a:spcPct val="81000"/>
              </a:lnSpc>
              <a:buFont typeface="Wingdings" panose="05000000000000000000" pitchFamily="2" charset="2"/>
              <a:buChar char="§"/>
              <a:defRPr sz="2400"/>
            </a:pPr>
            <a:r>
              <a:rPr lang="en-US" dirty="0"/>
              <a:t>SCSI Read Capacity(16) reports provisioning information</a:t>
            </a:r>
          </a:p>
          <a:p>
            <a:pPr>
              <a:lnSpc>
                <a:spcPct val="81000"/>
              </a:lnSpc>
              <a:buFont typeface="Wingdings" panose="05000000000000000000" pitchFamily="2" charset="2"/>
              <a:buChar char="§"/>
              <a:defRPr sz="2400"/>
            </a:pPr>
            <a:r>
              <a:rPr lang="en-US" dirty="0"/>
              <a:t>SCSI Get LBA Status reports mapped/deallocated blocks</a:t>
            </a:r>
          </a:p>
          <a:p>
            <a:pPr>
              <a:lnSpc>
                <a:spcPct val="81000"/>
              </a:lnSpc>
              <a:buFont typeface="Wingdings" panose="05000000000000000000" pitchFamily="2" charset="2"/>
              <a:buChar char="§"/>
              <a:defRPr sz="2400"/>
            </a:pPr>
            <a:r>
              <a:rPr lang="en-US" dirty="0"/>
              <a:t>SCSI Inquiry VPD Block Limits reports maximum UNMAP information</a:t>
            </a:r>
          </a:p>
        </p:txBody>
      </p:sp>
      <p:sp>
        <p:nvSpPr>
          <p:cNvPr id="1069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11455399" y="6441062"/>
            <a:ext cx="127001" cy="22195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0" y="519236"/>
            <a:ext cx="10969944" cy="430334"/>
          </a:xfrm>
        </p:spPr>
        <p:txBody>
          <a:bodyPr>
            <a:normAutofit fontScale="90000"/>
          </a:bodyPr>
          <a:lstStyle/>
          <a:p>
            <a:r>
              <a:rPr lang="en-US" dirty="0"/>
              <a:t>Report Capacity &amp; Provisioning Type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09600" y="1134208"/>
            <a:ext cx="10969784" cy="496179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export SCU_DEVICE="/dev/mapper/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readcapacity16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        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Read Capacity(16) Data: (data length 32 bytes)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Maximum Capacity: </a:t>
            </a:r>
            <a:r>
              <a:rPr 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409600000 (200000.000 megabytes)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Block Length: 512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Protection Enabled: No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Protection Type: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Logical Blocks per Physical Exponent: 0 (1 blocks per physical)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Protection Information Exponent: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Logical Block Provisioning Management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Yes (Thin Provisioned)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Logical Block Provisioning Read Zeroes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Yes (unmapped blocks read as zero)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Lowest Aligned Logical Block Address: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30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0" y="519236"/>
            <a:ext cx="10969944" cy="421542"/>
          </a:xfrm>
        </p:spPr>
        <p:txBody>
          <a:bodyPr>
            <a:normAutofit fontScale="90000"/>
          </a:bodyPr>
          <a:lstStyle/>
          <a:p>
            <a:r>
              <a:rPr lang="en-US" dirty="0"/>
              <a:t>Report UNMAP 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072662" y="1028699"/>
            <a:ext cx="10497930" cy="482111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inquiry page=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block_limits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Block Limits Page: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Peripheral Device Type: 0 (Direct Access Device)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Peripheral Qualifier: 0 (Peripheral Device Connected)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Page Code: </a:t>
            </a:r>
            <a:r>
              <a:rPr lang="en-US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Page Length: 60 (0x3c)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Write Same No Zero: </a:t>
            </a:r>
            <a:r>
              <a:rPr lang="en-US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	</a:t>
            </a:r>
            <a:r>
              <a:rPr lang="en-US" sz="1000" b="1" dirty="0">
                <a:solidFill>
                  <a:schemeClr val="tx1"/>
                </a:solidFill>
                <a:latin typeface="+mn-lt"/>
                <a:cs typeface="Courier New" panose="02070309020205020404" pitchFamily="49" charset="0"/>
              </a:rPr>
              <a:t>&lt;- Note: We only support zero data!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Maximum Compare and Write Length: 1 block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Optimal Transfer Length Granularity: 0 blocks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Maximum Transfer Length: 0 blocks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Optimal Transfer Length: 0 blocks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Maximum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Prefetch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Transfer Length: 0 blocks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Maximum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Unmap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LBA Count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2097152 blocks (1073741824 bytes)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Maximum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Unmap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Descriptor Count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Optimal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Unmap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Granularity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blocks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Unmap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Granularity Alignment Valid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Unmap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Granularity Alignment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000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Maximum Write Same Length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2097152 blocks (1073741824 bytes)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Maximum Atomic Transfer Length: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Atomic Alignment: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Atomic Transfer Length Granularity: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Maximum Atomic Transfer Boundary: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Maximum Atomic Boundary Size: 0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67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0" y="519236"/>
            <a:ext cx="10969944" cy="412750"/>
          </a:xfrm>
        </p:spPr>
        <p:txBody>
          <a:bodyPr>
            <a:normAutofit fontScale="90000"/>
          </a:bodyPr>
          <a:lstStyle/>
          <a:p>
            <a:r>
              <a:rPr lang="en-US" dirty="0"/>
              <a:t>Populate Disk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116622" y="1028699"/>
            <a:ext cx="10453969" cy="4821114"/>
          </a:xfrm>
        </p:spPr>
        <p:txBody>
          <a:bodyPr>
            <a:normAutofit fontScale="47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starting=0 bs=256k emit=default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pattern=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slices=64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Thread: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Device Name: 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Device Info: Block Length=512, Capacity=409600000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Block Range: 313600000 - 320000000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SCSI Name: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Write(16)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SCSI CDB: 8a 00 00 00 00 00 13 12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00 00 00 02 00 00 00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Data Direction: write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Length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262144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Exit Status: 0 = SUCCESS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Host Status: 0 = DID_OK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Driver Status: 0 = DRIVER_OK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SCSI Status: 0 = SCSI_GOOD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Sense Code: 0 = NO CODE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Sense Key: 0 = NO SENSE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(00, 00) = No additional sense information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Bytes Transferred: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262144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(data bytes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Residual: 0 (bytes not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Iterations: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Total Bytes: 3276800000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Total Blocks: 6400000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Total Operations: 12501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Sense Data: 00 00 00 00 00 00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Elapsed 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01m44.75s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Starting Time: Wed Dec 16 17:30:02 2020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Ending Time: Wed Dec 16 17:31:47 2020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61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0" y="519235"/>
            <a:ext cx="10969944" cy="518257"/>
          </a:xfrm>
        </p:spPr>
        <p:txBody>
          <a:bodyPr>
            <a:normAutofit fontScale="90000"/>
          </a:bodyPr>
          <a:lstStyle/>
          <a:p>
            <a:r>
              <a:rPr lang="en-US" dirty="0"/>
              <a:t>Report Mapped / Deallocated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090246" y="1292468"/>
            <a:ext cx="10489138" cy="4821114"/>
          </a:xfrm>
        </p:spPr>
        <p:txBody>
          <a:bodyPr>
            <a:normAutofit fontScale="40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getlbastatus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emit=default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Get LBA Status Information:</a:t>
            </a:r>
          </a:p>
          <a:p>
            <a:pPr marL="0" indent="0">
              <a:spcBef>
                <a:spcPts val="0"/>
              </a:spcBef>
              <a:buNone/>
            </a:pPr>
            <a:endParaRPr 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Mapped Blocks: </a:t>
            </a:r>
            <a:r>
              <a:rPr lang="en-US" sz="1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Deallocated Blocks: </a:t>
            </a:r>
            <a:r>
              <a:rPr lang="en-US" sz="1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Total Blocks: 409600000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Thread: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Device Name: 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Device Info: Block Length=512, Capacity=409600000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Block Range: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0 - 409600000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SCSI Name: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 LBA Status(16)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SCSI CDB: 9e 12 00 00 00 00 18 60 00 00 00 00 28 a8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Data Direction: read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Data Length: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10408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Exit Status: 0 = SUCCESS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Host Status: 0 = DID_OK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Driver Status: 0 = DRIVER_OK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SCSI Status: 0 = SCSI_GOOD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Sense Code: 0 = NO CODE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Sense Key: 0 = NO SENSE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(00, 00) = No additional sense information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Bytes Transferred: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(data bytes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Residual: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10384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(bytes not transferred)	</a:t>
            </a:r>
            <a:r>
              <a:rPr lang="en-US" b="1" dirty="0">
                <a:latin typeface="+mn-lt"/>
                <a:cs typeface="Courier New" panose="02070309020205020404" pitchFamily="49" charset="0"/>
              </a:rPr>
              <a:t>&lt;- FYI: Only </a:t>
            </a:r>
            <a:r>
              <a:rPr lang="en-US" b="1" u="sng" dirty="0">
                <a:latin typeface="+mn-lt"/>
                <a:cs typeface="Courier New" panose="02070309020205020404" pitchFamily="49" charset="0"/>
              </a:rPr>
              <a:t>one</a:t>
            </a:r>
            <a:r>
              <a:rPr lang="en-US" b="1" dirty="0">
                <a:latin typeface="+mn-lt"/>
                <a:cs typeface="Courier New" panose="02070309020205020404" pitchFamily="49" charset="0"/>
              </a:rPr>
              <a:t> descriptor returned (</a:t>
            </a:r>
            <a:r>
              <a:rPr lang="en-US" b="1" dirty="0" err="1">
                <a:latin typeface="+mn-lt"/>
                <a:cs typeface="Courier New" panose="02070309020205020404" pitchFamily="49" charset="0"/>
              </a:rPr>
              <a:t>spt</a:t>
            </a:r>
            <a:r>
              <a:rPr lang="en-US" b="1" dirty="0">
                <a:latin typeface="+mn-lt"/>
                <a:cs typeface="Courier New" panose="02070309020205020404" pitchFamily="49" charset="0"/>
              </a:rPr>
              <a:t> requested 650 entries).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Iterations: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Total Bytes: 11544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Total Blocks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Total Operations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482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Sense Data: 00 00 00 00 00 00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Elapsed 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00m47.58s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Starting Time: Wed Dec 16 16:07:20 2020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Ending Time: Wed Dec 16 16:08:07 2020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59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0" y="519236"/>
            <a:ext cx="10969944" cy="509464"/>
          </a:xfrm>
        </p:spPr>
        <p:txBody>
          <a:bodyPr>
            <a:normAutofit fontScale="90000"/>
          </a:bodyPr>
          <a:lstStyle/>
          <a:p>
            <a:r>
              <a:rPr lang="en-US" dirty="0"/>
              <a:t>UNMAP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204546" y="1028699"/>
            <a:ext cx="10366046" cy="4821114"/>
          </a:xfrm>
        </p:spPr>
        <p:txBody>
          <a:bodyPr>
            <a:normAutofit fontScale="47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unmap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emit=default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Thread: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Device Name: 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Device Info: Block Length=512, Capacity=409600000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Block Range: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0 - 409600000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SCSI Name: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Unmap</a:t>
            </a: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SCSI CDB: 42 00 00 00 00 00 00 00 18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Data Direction: write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Data Length: 24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Exit Status: 0 = SUCCESS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Host Status: 0 = DID_OK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Driver Status: 0 = DRIVER_OK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SCSI Status: 0 = SCSI_GOOD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Sense Code: 0 = NO CODE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Sense Key: 0 = NO SENSE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(00, 00) = No additional sense information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Bytes Transferred: 24 (data bytes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Residual: 0 (bytes not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Iterations: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Total Bytes: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4704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Total Blocks: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Total Operations: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Sense Data: 00 00 00 00 00 00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Elapsed 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00m00.35s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Starting Time: Wed Dec 16 16:10:33 2020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Ending Time: Wed Dec 16 16:10:33 2020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17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0" y="519236"/>
            <a:ext cx="10969944" cy="421542"/>
          </a:xfrm>
        </p:spPr>
        <p:txBody>
          <a:bodyPr>
            <a:normAutofit fontScale="90000"/>
          </a:bodyPr>
          <a:lstStyle/>
          <a:p>
            <a:r>
              <a:rPr lang="en-US" dirty="0"/>
              <a:t>Show Deallocated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248508" y="1028699"/>
            <a:ext cx="10322084" cy="4821114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getlbastatus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 LBA Status Information: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Mapped Blocks: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Deallocated Blocks: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Total Blocks: 409600000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getlbastatus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 starting=1g/b limit=100g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 LBA Status Information: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Mapped Blocks: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Deallocated Blocks: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209715200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Total Blocks: 209715200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56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0" y="519236"/>
            <a:ext cx="10969944" cy="430334"/>
          </a:xfrm>
        </p:spPr>
        <p:txBody>
          <a:bodyPr>
            <a:normAutofit fontScale="90000"/>
          </a:bodyPr>
          <a:lstStyle/>
          <a:p>
            <a:r>
              <a:rPr lang="en-US" dirty="0"/>
              <a:t>Write Same w/UNMAP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213338" y="1028699"/>
            <a:ext cx="10357254" cy="4821114"/>
          </a:xfrm>
        </p:spPr>
        <p:txBody>
          <a:bodyPr>
            <a:normAutofit fontScale="47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=8a starting=0 bs=256k pattern=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slices=64              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=93,08 starting=0 emit=default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        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Thread: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Device Name: 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Device Info: Block Length=512, Capacity=409600000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Block Range: 0 - 409600000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SCSI Name: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 Same(16)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SCSI CDB: 93 08 00 00 00 00 18 60 00 00 00 0a 00 00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Data Direction: write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Data Length: 512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Exit Status: 0 = SUCCESS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Host Status: 0 = DID_OK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Driver Status: 0 = DRIVER_OK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SCSI Status: 0 = SCSI_GOOD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Sense Code: 0 = NO CODE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Sense Key: 0 = NO SENSE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(00, 00) = No additional sense information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Bytes Transferred: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512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(data bytes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Residual: 0 (bytes not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Iterations: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Total Bytes: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100352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Total Blocks: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Total Operations: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197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Sense Data: 00 00 00 00 00 00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Elapsed 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00m00.35s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Starting Time: Wed Dec 16 16:55:50 2020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Ending Time: Wed Dec 16 16:55:50 2020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66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0" y="519236"/>
            <a:ext cx="10969944" cy="430334"/>
          </a:xfrm>
        </p:spPr>
        <p:txBody>
          <a:bodyPr>
            <a:normAutofit fontScale="90000"/>
          </a:bodyPr>
          <a:lstStyle/>
          <a:p>
            <a:r>
              <a:rPr lang="en-US" dirty="0"/>
              <a:t>Zero ROD Method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169376" y="1028699"/>
            <a:ext cx="10401215" cy="4821114"/>
          </a:xfrm>
        </p:spPr>
        <p:txBody>
          <a:bodyPr>
            <a:normAutofit fontScale="47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=8a starting=0 bs=256k pattern=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slices=64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zerorod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emit=default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Thread: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Device Name: 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Device Info: Block Length=512, Capacity=409600000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Block Range: 0 - 409600000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SCSI Name: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XCOPY - Write Using Token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SCSI CDB: 83 11 00 00 00 00 01 8b 51 9b 00 00 02 28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Data Direction: write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Data Length: 512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Exit Status: 0 = SUCCESS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Host Status: 0 = DID_OK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Driver Status: 0 = DRIVER_OK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SCSI Status: 0 = SCSI_GOOD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Sense Code: 0 = NO CODE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Sense Key: 0 = NO SENSE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(00, 00) = No additional sense information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Bytes Transferred: 552 (data bytes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Residual: 0 (bytes not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Iterations: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Total Bytes: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1725000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Total Blocks: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Total Operations: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3127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Sense Data: 00 00 00 00 00 00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Elapsed 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00m00.93s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Starting Time: Wed Dec 16 17:02:44 2020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Ending Time: Wed Dec 16 17:02:45 2020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8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0" y="519236"/>
            <a:ext cx="10969944" cy="43033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dt</a:t>
            </a:r>
            <a:r>
              <a:rPr lang="en-US" dirty="0"/>
              <a:t> I/O and UNMAP Commands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081454" y="1028699"/>
            <a:ext cx="10489138" cy="482111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+mn-lt"/>
                <a:cs typeface="Courier New" panose="02070309020205020404" pitchFamily="49" charset="0"/>
              </a:rPr>
              <a:t>dt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 UNMAP Options:</a:t>
            </a:r>
          </a:p>
          <a:p>
            <a:pPr marL="537211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+mn-lt"/>
                <a:cs typeface="Courier New" panose="02070309020205020404" pitchFamily="49" charset="0"/>
              </a:rPr>
              <a:t>unmap_freq</a:t>
            </a:r>
            <a:r>
              <a:rPr lang="en-US" sz="2000" b="1" dirty="0">
                <a:latin typeface="+mn-lt"/>
                <a:cs typeface="Courier New" panose="02070309020205020404" pitchFamily="49" charset="0"/>
              </a:rPr>
              <a:t>=value 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     The SCSI </a:t>
            </a:r>
            <a:r>
              <a:rPr lang="en-US" sz="2000" dirty="0" err="1">
                <a:latin typeface="+mn-lt"/>
                <a:cs typeface="Courier New" panose="02070309020205020404" pitchFamily="49" charset="0"/>
              </a:rPr>
              <a:t>unmap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 frequency.     (Def: 0)</a:t>
            </a:r>
          </a:p>
          <a:p>
            <a:pPr marL="537211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+mn-lt"/>
                <a:cs typeface="Courier New" panose="02070309020205020404" pitchFamily="49" charset="0"/>
              </a:rPr>
              <a:t>unmap</a:t>
            </a:r>
            <a:r>
              <a:rPr lang="en-US" sz="2000" b="1" dirty="0">
                <a:latin typeface="+mn-lt"/>
                <a:cs typeface="Courier New" panose="02070309020205020404" pitchFamily="49" charset="0"/>
              </a:rPr>
              <a:t>=type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                  The SCSI </a:t>
            </a:r>
            <a:r>
              <a:rPr lang="en-US" sz="2000" dirty="0" err="1">
                <a:latin typeface="+mn-lt"/>
                <a:cs typeface="Courier New" panose="02070309020205020404" pitchFamily="49" charset="0"/>
              </a:rPr>
              <a:t>unmap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 type.</a:t>
            </a:r>
          </a:p>
          <a:p>
            <a:pPr marL="690699" lvl="2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Valid types are: </a:t>
            </a:r>
            <a:r>
              <a:rPr lang="en-US" sz="2000" b="1" dirty="0">
                <a:solidFill>
                  <a:srgbClr val="0070C0"/>
                </a:solidFill>
                <a:latin typeface="+mn-lt"/>
                <a:cs typeface="Courier New" panose="02070309020205020404" pitchFamily="49" charset="0"/>
              </a:rPr>
              <a:t>random</a:t>
            </a:r>
            <a:r>
              <a:rPr lang="en-US" sz="2000" b="1" dirty="0">
                <a:latin typeface="+mn-lt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latin typeface="+mn-lt"/>
                <a:cs typeface="Courier New" panose="02070309020205020404" pitchFamily="49" charset="0"/>
              </a:rPr>
              <a:t>unmap</a:t>
            </a:r>
            <a:r>
              <a:rPr lang="en-US" sz="2000" b="1" dirty="0">
                <a:latin typeface="+mn-lt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latin typeface="+mn-lt"/>
                <a:cs typeface="Courier New" panose="02070309020205020404" pitchFamily="49" charset="0"/>
              </a:rPr>
              <a:t>write_same</a:t>
            </a:r>
            <a:r>
              <a:rPr lang="en-US" sz="2000" b="1" dirty="0">
                <a:latin typeface="+mn-lt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latin typeface="+mn-lt"/>
                <a:cs typeface="Courier New" panose="02070309020205020404" pitchFamily="49" charset="0"/>
              </a:rPr>
              <a:t>zerorod</a:t>
            </a:r>
            <a:endParaRPr lang="en-US" sz="2000" dirty="0">
              <a:latin typeface="+mn-lt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UNMAPs are done via </a:t>
            </a:r>
            <a:r>
              <a:rPr lang="en-US" sz="2000" i="1" dirty="0" err="1">
                <a:latin typeface="+mn-lt"/>
                <a:cs typeface="Courier New" panose="02070309020205020404" pitchFamily="49" charset="0"/>
              </a:rPr>
              <a:t>spt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 commands (today)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UNMAPs are </a:t>
            </a:r>
            <a:r>
              <a:rPr lang="en-US" sz="2000" i="1" dirty="0">
                <a:latin typeface="+mn-lt"/>
                <a:cs typeface="Courier New" panose="02070309020205020404" pitchFamily="49" charset="0"/>
              </a:rPr>
              <a:t>only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 done between passes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Options to control </a:t>
            </a:r>
            <a:r>
              <a:rPr lang="en-US" sz="2000" i="1" dirty="0" err="1">
                <a:latin typeface="+mn-lt"/>
                <a:cs typeface="Courier New" panose="02070309020205020404" pitchFamily="49" charset="0"/>
              </a:rPr>
              <a:t>spt</a:t>
            </a:r>
            <a:r>
              <a:rPr lang="en-US" sz="2000" i="1" dirty="0">
                <a:latin typeface="+mn-lt"/>
                <a:cs typeface="Courier New" panose="02070309020205020404" pitchFamily="49" charset="0"/>
              </a:rPr>
              <a:t>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+mn-lt"/>
                <a:cs typeface="Courier New" panose="02070309020205020404" pitchFamily="49" charset="0"/>
              </a:rPr>
              <a:t>spt_path</a:t>
            </a:r>
            <a:r>
              <a:rPr lang="en-US" sz="2000" b="1" dirty="0">
                <a:latin typeface="+mn-lt"/>
                <a:cs typeface="Courier New" panose="02070309020205020404" pitchFamily="49" charset="0"/>
              </a:rPr>
              <a:t>=string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         Path to SCSI (</a:t>
            </a:r>
            <a:r>
              <a:rPr lang="en-US" sz="2000" dirty="0" err="1">
                <a:latin typeface="+mn-lt"/>
                <a:cs typeface="Courier New" panose="02070309020205020404" pitchFamily="49" charset="0"/>
              </a:rPr>
              <a:t>spt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) tool.</a:t>
            </a:r>
          </a:p>
          <a:p>
            <a:pPr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Unix default: </a:t>
            </a:r>
            <a:r>
              <a:rPr lang="en-US" sz="2000" b="1" dirty="0">
                <a:latin typeface="+mn-lt"/>
                <a:cs typeface="Courier New" panose="02070309020205020404" pitchFamily="49" charset="0"/>
              </a:rPr>
              <a:t>/</a:t>
            </a:r>
            <a:r>
              <a:rPr lang="en-US" sz="2000" b="1" dirty="0" err="1">
                <a:latin typeface="+mn-lt"/>
                <a:cs typeface="Courier New" panose="02070309020205020404" pitchFamily="49" charset="0"/>
              </a:rPr>
              <a:t>usr</a:t>
            </a:r>
            <a:r>
              <a:rPr lang="en-US" sz="2000" b="1" dirty="0">
                <a:latin typeface="+mn-lt"/>
                <a:cs typeface="Courier New" panose="02070309020205020404" pitchFamily="49" charset="0"/>
              </a:rPr>
              <a:t>/local/bin/</a:t>
            </a:r>
            <a:r>
              <a:rPr lang="en-US" sz="2000" b="1" dirty="0" err="1">
                <a:latin typeface="+mn-lt"/>
                <a:cs typeface="Courier New" panose="02070309020205020404" pitchFamily="49" charset="0"/>
              </a:rPr>
              <a:t>spt</a:t>
            </a:r>
            <a:endParaRPr lang="en-US" sz="2000" b="1" dirty="0">
              <a:latin typeface="+mn-lt"/>
              <a:cs typeface="Courier New" panose="02070309020205020404" pitchFamily="49" charset="0"/>
            </a:endParaRPr>
          </a:p>
          <a:p>
            <a:pPr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Windows default: </a:t>
            </a:r>
            <a:r>
              <a:rPr lang="en-US" sz="2000" b="1" dirty="0">
                <a:latin typeface="+mn-lt"/>
                <a:cs typeface="Courier New" panose="02070309020205020404" pitchFamily="49" charset="0"/>
              </a:rPr>
              <a:t>c:/tools/spt.exe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+mn-lt"/>
                <a:cs typeface="Courier New" panose="02070309020205020404" pitchFamily="49" charset="0"/>
              </a:rPr>
              <a:t>spt_options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=string    Additional </a:t>
            </a:r>
            <a:r>
              <a:rPr lang="en-US" sz="2000" dirty="0" err="1">
                <a:latin typeface="+mn-lt"/>
                <a:cs typeface="Courier New" panose="02070309020205020404" pitchFamily="49" charset="0"/>
              </a:rPr>
              <a:t>spt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 options.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Roll Your Own via: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+mn-lt"/>
                <a:cs typeface="Courier New" panose="02070309020205020404" pitchFamily="49" charset="0"/>
              </a:rPr>
              <a:t>pass_cmd</a:t>
            </a:r>
            <a:r>
              <a:rPr lang="en-US" sz="2000" b="1" dirty="0">
                <a:latin typeface="+mn-lt"/>
                <a:cs typeface="Courier New" panose="02070309020205020404" pitchFamily="49" charset="0"/>
              </a:rPr>
              <a:t>=string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       The per pass command to execute.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BEWARE of 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Linux BUG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: (external commands via </a:t>
            </a:r>
            <a:r>
              <a:rPr lang="en-US" sz="2000" b="1" dirty="0" err="1">
                <a:latin typeface="+mn-lt"/>
                <a:cs typeface="Courier New" panose="02070309020205020404" pitchFamily="49" charset="0"/>
              </a:rPr>
              <a:t>popen</a:t>
            </a:r>
            <a:r>
              <a:rPr lang="en-US" sz="2000" b="1" dirty="0">
                <a:latin typeface="+mn-lt"/>
                <a:cs typeface="Courier New" panose="02070309020205020404" pitchFamily="49" charset="0"/>
              </a:rPr>
              <a:t>() 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cause 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false</a:t>
            </a:r>
            <a:r>
              <a:rPr lang="en-US" sz="2000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+mn-lt"/>
                <a:cs typeface="Courier New" panose="02070309020205020404" pitchFamily="49" charset="0"/>
              </a:rPr>
              <a:t>data corruptions!)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Transient (read) corruption from </a:t>
            </a:r>
            <a:r>
              <a:rPr lang="en-US" sz="2000" dirty="0" err="1"/>
              <a:t>linux</a:t>
            </a:r>
            <a:r>
              <a:rPr lang="en-US" sz="2000" dirty="0"/>
              <a:t> host while running variable </a:t>
            </a:r>
            <a:r>
              <a:rPr lang="en-US" sz="2000" dirty="0" err="1"/>
              <a:t>blocksize</a:t>
            </a:r>
            <a:r>
              <a:rPr lang="en-US" sz="2000" dirty="0"/>
              <a:t> IO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Workaround: Use smaller block sizes (e.g. 256k) or limit to single thread (so no outstanding I/O).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40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0" y="519236"/>
            <a:ext cx="10969944" cy="544634"/>
          </a:xfrm>
        </p:spPr>
        <p:txBody>
          <a:bodyPr>
            <a:normAutofit fontScale="90000"/>
          </a:bodyPr>
          <a:lstStyle/>
          <a:p>
            <a:r>
              <a:rPr lang="en-US" dirty="0"/>
              <a:t>DT Example with Random UNMAP 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09600" y="1134208"/>
            <a:ext cx="10969784" cy="496179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dt of=${DISK} bs=256k workload=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high_validation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slices=5 passes=2 limit=1g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unmap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=random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disable=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get_lba_status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2&gt;&amp;1 |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fgrep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Executing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Executing: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/local/bin/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93 08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starting=0 blocks=8192 limit=419430b enable=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sense,recovery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2&gt;&amp;1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(j:1 t:2): Executing: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/local/bin/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83 11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starting=419430 limit=419430b enable=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sense,recovery,zerorod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2&gt;&amp;1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(j:1 t:3): Executing: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/local/bin/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="93 08" starting=838860 blocks=8192 limit=419430b enable=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sense,recovery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2&gt;&amp;1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(j:1 t:5): Executing: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/local/bin/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0x42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starting=1677720 limit=419432b enable=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sense,recovery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2&gt;&amp;1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(j:1 t:4): Executing: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/local/bin/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="93 08" starting=1258290 blocks=8192 limit=419430b enable=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sense,recovery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2&gt;&amp;1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(j:1 t:2): Executing: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/local/bin/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="83 11" starting=419430 limit=419430b enable=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sense,recovery,zerorod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2&gt;&amp;1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Executing: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/local/bin/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="83 11" starting=0 limit=419430b enable=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sense,recovery,zerorod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2&gt;&amp;1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(j:1 t:4): Executing: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/local/bin/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="93 08" starting=1258290 blocks=8192 limit=419430b enable=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sense,recovery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2&gt;&amp;1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(j:1 t:3): Executing: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/local/bin/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=0x42 starting=838860 limit=419430b enable=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sense,recovery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2&gt;&amp;1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(j:1 t:5): Executing: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/local/bin/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=/dev/mapper/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mpathu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="83 11" starting=1677720 limit=419432b enable=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sense,recovery,zerorod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2&gt;&amp;1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10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0" y="519236"/>
            <a:ext cx="10969944" cy="430334"/>
          </a:xfrm>
        </p:spPr>
        <p:txBody>
          <a:bodyPr>
            <a:normAutofit fontScale="90000"/>
          </a:bodyPr>
          <a:lstStyle/>
          <a:p>
            <a:r>
              <a:rPr lang="en-US" dirty="0"/>
              <a:t>DT File Trim Operations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107830" y="1028699"/>
            <a:ext cx="10462761" cy="482111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  <a:cs typeface="Courier New" panose="02070309020205020404" pitchFamily="49" charset="0"/>
              </a:rPr>
              <a:t>File Systems with File Trim API’s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cs typeface="Courier New" panose="02070309020205020404" pitchFamily="49" charset="0"/>
              </a:rPr>
              <a:t>Windows </a:t>
            </a:r>
            <a:r>
              <a:rPr lang="en-US" sz="2400" dirty="0" err="1">
                <a:latin typeface="+mn-lt"/>
                <a:cs typeface="Courier New" panose="02070309020205020404" pitchFamily="49" charset="0"/>
              </a:rPr>
              <a:t>DeviceIoControl</a:t>
            </a:r>
            <a:r>
              <a:rPr lang="en-US" sz="2400" dirty="0">
                <a:latin typeface="+mn-lt"/>
                <a:cs typeface="Courier New" panose="02070309020205020404" pitchFamily="49" charset="0"/>
              </a:rPr>
              <a:t>() </a:t>
            </a:r>
            <a:r>
              <a:rPr lang="en-US" sz="2400" b="1" dirty="0">
                <a:latin typeface="+mn-lt"/>
                <a:cs typeface="Courier New" panose="02070309020205020404" pitchFamily="49" charset="0"/>
              </a:rPr>
              <a:t>FSCTL_FILE_LEVEL_TRIM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+mn-lt"/>
                <a:cs typeface="Courier New" panose="02070309020205020404" pitchFamily="49" charset="0"/>
              </a:rPr>
              <a:t>dt</a:t>
            </a:r>
            <a:r>
              <a:rPr lang="en-US" sz="2400" dirty="0">
                <a:latin typeface="+mn-lt"/>
                <a:cs typeface="Courier New" panose="02070309020205020404" pitchFamily="49" charset="0"/>
              </a:rPr>
              <a:t> File Trim Options: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+mn-lt"/>
                <a:cs typeface="Courier New" panose="02070309020205020404" pitchFamily="49" charset="0"/>
              </a:rPr>
              <a:t>fstrim_freq</a:t>
            </a:r>
            <a:r>
              <a:rPr lang="en-US" sz="2400" b="1" dirty="0">
                <a:latin typeface="+mn-lt"/>
                <a:cs typeface="Courier New" panose="02070309020205020404" pitchFamily="49" charset="0"/>
              </a:rPr>
              <a:t>=value - </a:t>
            </a:r>
            <a:r>
              <a:rPr lang="en-US" sz="2400" dirty="0">
                <a:latin typeface="+mn-lt"/>
                <a:cs typeface="Courier New" panose="02070309020205020404" pitchFamily="49" charset="0"/>
              </a:rPr>
              <a:t>The file system trim frequency (in </a:t>
            </a:r>
            <a:r>
              <a:rPr lang="en-US" sz="2400" b="1" dirty="0">
                <a:latin typeface="+mn-lt"/>
                <a:cs typeface="Courier New" panose="02070309020205020404" pitchFamily="49" charset="0"/>
              </a:rPr>
              <a:t>files</a:t>
            </a:r>
            <a:r>
              <a:rPr lang="en-US" sz="2400" dirty="0">
                <a:latin typeface="+mn-lt"/>
                <a:cs typeface="Courier New" panose="02070309020205020404" pitchFamily="49" charset="0"/>
              </a:rPr>
              <a:t>).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cs typeface="Courier New" panose="02070309020205020404" pitchFamily="49" charset="0"/>
              </a:rPr>
              <a:t>Flags:</a:t>
            </a:r>
          </a:p>
          <a:p>
            <a:pPr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Courier New" panose="02070309020205020404" pitchFamily="49" charset="0"/>
              </a:rPr>
              <a:t>enable/disable=</a:t>
            </a:r>
            <a:r>
              <a:rPr lang="en-US" sz="2400" b="1" dirty="0" err="1">
                <a:latin typeface="+mn-lt"/>
                <a:cs typeface="Courier New" panose="02070309020205020404" pitchFamily="49" charset="0"/>
              </a:rPr>
              <a:t>fstrim</a:t>
            </a:r>
            <a:r>
              <a:rPr lang="en-US" sz="2400" dirty="0">
                <a:latin typeface="+mn-lt"/>
                <a:cs typeface="Courier New" panose="02070309020205020404" pitchFamily="49" charset="0"/>
              </a:rPr>
              <a:t> - File system trim. (Default: </a:t>
            </a:r>
            <a:r>
              <a:rPr lang="en-US" sz="2400" b="1" dirty="0">
                <a:latin typeface="+mn-lt"/>
                <a:cs typeface="Courier New" panose="02070309020205020404" pitchFamily="49" charset="0"/>
              </a:rPr>
              <a:t>disabled</a:t>
            </a:r>
            <a:r>
              <a:rPr lang="en-US" sz="2400" dirty="0">
                <a:latin typeface="+mn-lt"/>
                <a:cs typeface="Courier New" panose="02070309020205020404" pitchFamily="49" charset="0"/>
              </a:rPr>
              <a:t>)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cs typeface="Courier New" panose="02070309020205020404" pitchFamily="49" charset="0"/>
              </a:rPr>
              <a:t>Like </a:t>
            </a:r>
            <a:r>
              <a:rPr lang="en-US" sz="2400" dirty="0" err="1">
                <a:latin typeface="+mn-lt"/>
                <a:cs typeface="Courier New" panose="02070309020205020404" pitchFamily="49" charset="0"/>
              </a:rPr>
              <a:t>unmap</a:t>
            </a:r>
            <a:r>
              <a:rPr lang="en-US" sz="2400" dirty="0">
                <a:latin typeface="+mn-lt"/>
                <a:cs typeface="Courier New" panose="02070309020205020404" pitchFamily="49" charset="0"/>
              </a:rPr>
              <a:t> options, applied </a:t>
            </a:r>
            <a:r>
              <a:rPr lang="en-US" sz="2400" i="1" dirty="0">
                <a:latin typeface="+mn-lt"/>
                <a:cs typeface="Courier New" panose="02070309020205020404" pitchFamily="49" charset="0"/>
              </a:rPr>
              <a:t>after</a:t>
            </a:r>
            <a:r>
              <a:rPr lang="en-US" sz="2400" dirty="0">
                <a:latin typeface="+mn-lt"/>
                <a:cs typeface="Courier New" panose="02070309020205020404" pitchFamily="49" charset="0"/>
              </a:rPr>
              <a:t> a full pass (between multiple passes)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  <a:cs typeface="Courier New" panose="02070309020205020404" pitchFamily="49" charset="0"/>
              </a:rPr>
              <a:t>Example:</a:t>
            </a:r>
          </a:p>
          <a:p>
            <a:pPr marL="251461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Administrator@rtp-fuji-qa32-1 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cygdrive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/c/Robin</a:t>
            </a:r>
          </a:p>
          <a:p>
            <a:pPr marL="251461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c:/tools/dt of=Y:/dt.data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bs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=random limit=25m workload=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high_validation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disable=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scsi,stats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passes=3 </a:t>
            </a:r>
            <a:r>
              <a:rPr lang="en-US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enable=</a:t>
            </a:r>
            <a:r>
              <a:rPr lang="en-US" sz="1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fdebug,fstrim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251461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File name: Y:/dt.data</a:t>
            </a:r>
          </a:p>
          <a:p>
            <a:pPr marL="251461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DEBUG: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GetFileAttributesEx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failed, error 2 - The system cannot find the file specified.</a:t>
            </a:r>
          </a:p>
          <a:p>
            <a:pPr marL="251461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Directory: Y:, File: Y:/dt.data, Base Name: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dt.data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51461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Requesting file system information...</a:t>
            </a:r>
          </a:p>
          <a:p>
            <a:pPr marL="251461" lvl="1" indent="0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Trimming file Y:/dt.data, starting offset: 0, length: 26214400 bytes</a:t>
            </a:r>
          </a:p>
          <a:p>
            <a:pPr marL="251461" lvl="1" indent="0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Trimming file Y:/dt.data, starting offset: 0, length: 26214400 bytes</a:t>
            </a:r>
          </a:p>
          <a:p>
            <a:pPr marL="251461" lvl="1" indent="0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Trimming file Y:/dt.data, starting offset: 0, length: 26214400 bytes</a:t>
            </a:r>
          </a:p>
          <a:p>
            <a:pPr marL="251461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Deleting file Y:/dt.data...</a:t>
            </a:r>
          </a:p>
          <a:p>
            <a:pPr marL="251461" lvl="1" indent="0">
              <a:spcBef>
                <a:spcPts val="0"/>
              </a:spcBef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51461" lvl="1" indent="0">
              <a:spcBef>
                <a:spcPts val="0"/>
              </a:spcBef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Administrator@rtp-fuji-qa32-1 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cygdrive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/c/Robin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942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0" y="519236"/>
            <a:ext cx="10969944" cy="430334"/>
          </a:xfrm>
        </p:spPr>
        <p:txBody>
          <a:bodyPr>
            <a:normAutofit fontScale="90000"/>
          </a:bodyPr>
          <a:lstStyle/>
          <a:p>
            <a:r>
              <a:rPr lang="en-US" dirty="0"/>
              <a:t>Debugging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266092" y="1028699"/>
            <a:ext cx="10304500" cy="4821114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unmap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limit=3g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enable=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xdebug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adds full SCSI debug)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Range Descriptor: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Number of Blocks: 2097152 (0x200000)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Starting Logical Block Address: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(0x0) (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lba's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0 - 2097151)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Range Descriptor: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Number of Blocks: 2097152 (0x200000)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Starting Logical Block Address: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2097152 (0x200000) (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lba's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2097152 - 4194303)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Range Descriptor: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Number of Blocks: 2097152 (0x200000)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Starting Logical Block Address: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4194304 (0x400000) (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lba's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4194304 - 6291455)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eval 2097152b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 Values: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Decimal: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1073741824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Hexadecimal: 0x40000000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512 byte Blocks: 2097152.000000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Kilobytes: 1048576.000000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Megabytes: 1024.000000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Gigabytes: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1.000000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Terabytes: 0.000977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54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0" y="519235"/>
            <a:ext cx="10969944" cy="456711"/>
          </a:xfrm>
        </p:spPr>
        <p:txBody>
          <a:bodyPr>
            <a:normAutofit fontScale="90000"/>
          </a:bodyPr>
          <a:lstStyle/>
          <a:p>
            <a:r>
              <a:rPr lang="en-US" dirty="0"/>
              <a:t>Futures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345222" y="1151792"/>
            <a:ext cx="10234161" cy="49442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Integrate </a:t>
            </a:r>
            <a:r>
              <a:rPr lang="en-US" sz="2800" i="1" dirty="0" err="1"/>
              <a:t>spt</a:t>
            </a:r>
            <a:r>
              <a:rPr lang="en-US" sz="2800" dirty="0"/>
              <a:t> into </a:t>
            </a:r>
            <a:r>
              <a:rPr lang="en-US" sz="2800" i="1" dirty="0" err="1"/>
              <a:t>dt</a:t>
            </a:r>
            <a:r>
              <a:rPr lang="en-US" sz="2800" dirty="0"/>
              <a:t> as an I/O Behavior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for example, </a:t>
            </a:r>
            <a:r>
              <a:rPr lang="en-US" sz="2400" b="1" dirty="0" err="1"/>
              <a:t>iobehavior</a:t>
            </a:r>
            <a:r>
              <a:rPr lang="en-US" sz="2400" b="1" dirty="0"/>
              <a:t>=</a:t>
            </a:r>
            <a:r>
              <a:rPr lang="en-US" sz="2400" b="1" dirty="0" err="1"/>
              <a:t>spt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delayed (currently) due to effort required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Note: </a:t>
            </a:r>
            <a:r>
              <a:rPr lang="en-US" dirty="0"/>
              <a:t>Not likely to happen now that I’m retired.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78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Backup Slides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tx2"/>
                </a:solidFill>
                <a:hlinkClick r:id="rId2"/>
              </a:rPr>
              <a:t>FIO User Guide File Trim Options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tx2"/>
                </a:solidFill>
              </a:rPr>
              <a:t>FIO Options: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trim_percentage=int</a:t>
            </a:r>
            <a:r>
              <a:rPr lang="en-US" sz="1800">
                <a:solidFill>
                  <a:schemeClr val="tx2"/>
                </a:solidFill>
              </a:rPr>
              <a:t> - Number of verify blocks to discard/trim.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trim_verify_zero=bool</a:t>
            </a:r>
            <a:r>
              <a:rPr lang="en-US" sz="1800">
                <a:solidFill>
                  <a:schemeClr val="tx2"/>
                </a:solidFill>
              </a:rPr>
              <a:t> - Verify that trim/discarded blocks are returned as zeros.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trim_backlog=int </a:t>
            </a:r>
            <a:r>
              <a:rPr lang="en-US" sz="1800">
                <a:solidFill>
                  <a:schemeClr val="tx2"/>
                </a:solidFill>
              </a:rPr>
              <a:t>- Trim after this number of blocks are written.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trim_backlog_batch=int</a:t>
            </a:r>
            <a:r>
              <a:rPr lang="en-US" sz="1800">
                <a:solidFill>
                  <a:schemeClr val="tx2"/>
                </a:solidFill>
              </a:rPr>
              <a:t> - Trim this number of I/O blocks.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6CB4B4D-7CA3-9044-876B-883B54F8677D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93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2925</TotalTime>
  <Words>3020</Words>
  <Application>Microsoft Office PowerPoint</Application>
  <PresentationFormat>Widescreen</PresentationFormat>
  <Paragraphs>365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SCSI Pass-Through (SPT) UNMAPs</vt:lpstr>
      <vt:lpstr>Topics</vt:lpstr>
      <vt:lpstr>Overview of UNMAPs</vt:lpstr>
      <vt:lpstr>SCSI UNMAP Methods</vt:lpstr>
      <vt:lpstr>Report Capacity &amp; Provisioning Type</vt:lpstr>
      <vt:lpstr>Report UNMAP Information</vt:lpstr>
      <vt:lpstr>Populate Disk Blocks</vt:lpstr>
      <vt:lpstr>Report Mapped / Deallocated Blocks</vt:lpstr>
      <vt:lpstr>UNMAP Blocks</vt:lpstr>
      <vt:lpstr>Show Deallocated Blocks</vt:lpstr>
      <vt:lpstr>Write Same w/UNMAP</vt:lpstr>
      <vt:lpstr>Zero ROD Method</vt:lpstr>
      <vt:lpstr>dt I/O and UNMAP Commands</vt:lpstr>
      <vt:lpstr>DT Example with Random UNMAP Methods</vt:lpstr>
      <vt:lpstr>DT File Trim Operations</vt:lpstr>
      <vt:lpstr>Debugging</vt:lpstr>
      <vt:lpstr>Futures</vt:lpstr>
      <vt:lpstr>Backup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Recent Corruptions Debugging</dc:title>
  <dc:creator>Miller, Robin</dc:creator>
  <cp:lastModifiedBy>Robin Miller</cp:lastModifiedBy>
  <cp:revision>120</cp:revision>
  <dcterms:modified xsi:type="dcterms:W3CDTF">2025-09-23T15:30:12Z</dcterms:modified>
</cp:coreProperties>
</file>