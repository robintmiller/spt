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5" r:id="rId1"/>
  </p:sldMasterIdLst>
  <p:notesMasterIdLst>
    <p:notesMasterId r:id="rId44"/>
  </p:notesMasterIdLst>
  <p:sldIdLst>
    <p:sldId id="303" r:id="rId2"/>
    <p:sldId id="304" r:id="rId3"/>
    <p:sldId id="357" r:id="rId4"/>
    <p:sldId id="335" r:id="rId5"/>
    <p:sldId id="321" r:id="rId6"/>
    <p:sldId id="305" r:id="rId7"/>
    <p:sldId id="356" r:id="rId8"/>
    <p:sldId id="323" r:id="rId9"/>
    <p:sldId id="322" r:id="rId10"/>
    <p:sldId id="326" r:id="rId11"/>
    <p:sldId id="329" r:id="rId12"/>
    <p:sldId id="327" r:id="rId13"/>
    <p:sldId id="328" r:id="rId14"/>
    <p:sldId id="362" r:id="rId15"/>
    <p:sldId id="343" r:id="rId16"/>
    <p:sldId id="347" r:id="rId17"/>
    <p:sldId id="348" r:id="rId18"/>
    <p:sldId id="349" r:id="rId19"/>
    <p:sldId id="355" r:id="rId20"/>
    <p:sldId id="344" r:id="rId21"/>
    <p:sldId id="345" r:id="rId22"/>
    <p:sldId id="352" r:id="rId23"/>
    <p:sldId id="353" r:id="rId24"/>
    <p:sldId id="380" r:id="rId25"/>
    <p:sldId id="331" r:id="rId26"/>
    <p:sldId id="358" r:id="rId27"/>
    <p:sldId id="324" r:id="rId28"/>
    <p:sldId id="359" r:id="rId29"/>
    <p:sldId id="325" r:id="rId30"/>
    <p:sldId id="336" r:id="rId31"/>
    <p:sldId id="377" r:id="rId32"/>
    <p:sldId id="379" r:id="rId33"/>
    <p:sldId id="378" r:id="rId34"/>
    <p:sldId id="308" r:id="rId35"/>
    <p:sldId id="309" r:id="rId36"/>
    <p:sldId id="310" r:id="rId37"/>
    <p:sldId id="360" r:id="rId38"/>
    <p:sldId id="361" r:id="rId39"/>
    <p:sldId id="311" r:id="rId40"/>
    <p:sldId id="312" r:id="rId41"/>
    <p:sldId id="313" r:id="rId42"/>
    <p:sldId id="32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07" autoAdjust="0"/>
    <p:restoredTop sz="94660"/>
  </p:normalViewPr>
  <p:slideViewPr>
    <p:cSldViewPr snapToGrid="0">
      <p:cViewPr varScale="1">
        <p:scale>
          <a:sx n="78" d="100"/>
          <a:sy n="78" d="100"/>
        </p:scale>
        <p:origin x="50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A4F35A-7390-454B-9C83-6A707706E675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3E33D-6838-4ED6-9C66-50E6073A7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64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435DCE8-1E24-44BA-9AD5-1C7A7840FBE4}" type="slidenum">
              <a:rPr lang="en-US" sz="1200" smtClean="0"/>
              <a:pPr eaLnBrk="1" hangingPunct="1"/>
              <a:t>1</a:t>
            </a:fld>
            <a:endParaRPr 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35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F53CA-B168-4D33-BEB2-80CE18968D76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55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D8C9B-B785-42C8-8CBF-8E5634427C4E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038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5ABE7-670C-49FB-832A-9AC3EE9AEEC2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4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15E0D-529D-4E2E-8A38-3D6B86C6CFED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69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1F3B-4B1B-4003-8F02-C7713FE3B44A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8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4C1EA-16FD-40CC-8296-D2E9E464AD32}" type="datetime1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4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8795-CA69-47AA-BC7D-8D76432F78DC}" type="datetime1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4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60D2-56B6-4BE8-BE4A-1AFEDDE7CDB2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929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C16C3-8EC8-450C-A4E6-1C5F296C8FC9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00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03E92-45DC-45FB-9179-4F4EB6A97176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6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9250-AC75-4476-ABF3-158E169224D4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02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14450"/>
            <a:ext cx="10515600" cy="4586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509DD-B739-4AC6-9DF3-89928784CAF1}" type="datetime1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1A788-09C1-4862-851B-ECA0FC285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8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10.org/cgi-bin/ac.pl?t=f&amp;f=cam-r12b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binTMiller/spt" TargetMode="External"/><Relationship Id="rId2" Type="http://schemas.openxmlformats.org/officeDocument/2006/relationships/hyperlink" Target="https://github.com/RobinTMiller/d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 bwMode="auto"/>
        <p:txBody>
          <a:bodyPr>
            <a:normAutofit fontScale="90000"/>
          </a:bodyPr>
          <a:lstStyle/>
          <a:p>
            <a:pPr marL="342900" indent="-342900"/>
            <a:br>
              <a:rPr lang="en-US" sz="3000" dirty="0"/>
            </a:br>
            <a:r>
              <a:rPr lang="en-US" sz="3000" dirty="0"/>
              <a:t>SCSI Pass-Through (SPT)</a:t>
            </a:r>
            <a:br>
              <a:rPr lang="en-US" sz="3000" dirty="0"/>
            </a:br>
            <a:r>
              <a:rPr lang="en-US" sz="3000" dirty="0"/>
              <a:t>Update (TOI)</a:t>
            </a:r>
            <a:br>
              <a:rPr lang="en-US" sz="3000" dirty="0"/>
            </a:br>
            <a:r>
              <a:rPr lang="en-US" sz="3000" dirty="0"/>
              <a:t>by</a:t>
            </a:r>
            <a:br>
              <a:rPr lang="en-US" sz="3000" dirty="0"/>
            </a:br>
            <a:r>
              <a:rPr lang="en-US" sz="3000" dirty="0"/>
              <a:t>Robin T. Miller</a:t>
            </a:r>
            <a:br>
              <a:rPr lang="en-US" sz="3000" dirty="0"/>
            </a:br>
            <a:r>
              <a:rPr lang="en-US" sz="2200" dirty="0"/>
              <a:t>Robin.Miller@gmail.com</a:t>
            </a:r>
            <a:endParaRPr lang="en-US" sz="3000" dirty="0"/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 bwMode="auto"/>
        <p:txBody>
          <a:bodyPr/>
          <a:lstStyle/>
          <a:p>
            <a:pPr eaLnBrk="1" hangingPunct="1"/>
            <a:r>
              <a:rPr lang="en-US"/>
              <a:t>Updated: September 23</a:t>
            </a:r>
            <a:r>
              <a:rPr lang="en-US" baseline="30000"/>
              <a:t>rd</a:t>
            </a:r>
            <a:r>
              <a:rPr lang="en-US"/>
              <a:t>, </a:t>
            </a:r>
            <a:r>
              <a:rPr lang="en-US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718910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27BDC79-4520-42A6-804C-2189046D3810}" type="slidenum">
              <a:rPr lang="en-US" sz="1000">
                <a:solidFill>
                  <a:schemeClr val="accent1"/>
                </a:solidFill>
              </a:rPr>
              <a:pPr eaLnBrk="1" hangingPunct="1"/>
              <a:t>2</a:t>
            </a:fld>
            <a:endParaRPr lang="en-US" sz="1000">
              <a:solidFill>
                <a:schemeClr val="accent1"/>
              </a:solidFill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Agenda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2704" y="1314450"/>
            <a:ext cx="9561095" cy="4586288"/>
          </a:xfrm>
        </p:spPr>
        <p:txBody>
          <a:bodyPr/>
          <a:lstStyle/>
          <a:p>
            <a:pPr eaLnBrk="1" hangingPunct="1"/>
            <a:r>
              <a:rPr lang="en-US" dirty="0"/>
              <a:t>Short History</a:t>
            </a:r>
          </a:p>
          <a:p>
            <a:pPr eaLnBrk="1" hangingPunct="1"/>
            <a:r>
              <a:rPr lang="en-US" dirty="0"/>
              <a:t>What is SPT?</a:t>
            </a:r>
          </a:p>
          <a:p>
            <a:pPr eaLnBrk="1" hangingPunct="1"/>
            <a:r>
              <a:rPr lang="en-US" dirty="0"/>
              <a:t>Why use this SPT Tool?</a:t>
            </a:r>
          </a:p>
          <a:p>
            <a:pPr eaLnBrk="1" hangingPunct="1"/>
            <a:r>
              <a:rPr lang="en-US" dirty="0"/>
              <a:t>SPT Features</a:t>
            </a:r>
          </a:p>
          <a:p>
            <a:pPr eaLnBrk="1" hangingPunct="1"/>
            <a:r>
              <a:rPr lang="en-US" dirty="0"/>
              <a:t>SPT Roadmap</a:t>
            </a:r>
          </a:p>
          <a:p>
            <a:pPr eaLnBrk="1" hangingPunct="1"/>
            <a:r>
              <a:rPr lang="en-US" dirty="0"/>
              <a:t>Q&amp;A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206602"/>
      </p:ext>
    </p:extLst>
  </p:cSld>
  <p:clrMapOvr>
    <a:masterClrMapping/>
  </p:clrMapOvr>
  <p:transition>
    <p:pull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History (mine, leading up to SPT)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992" y="1314450"/>
            <a:ext cx="9744808" cy="4586288"/>
          </a:xfrm>
        </p:spPr>
        <p:txBody>
          <a:bodyPr>
            <a:normAutofit/>
          </a:bodyPr>
          <a:lstStyle/>
          <a:p>
            <a:r>
              <a:rPr lang="en-US" dirty="0"/>
              <a:t>Started working with </a:t>
            </a:r>
            <a:r>
              <a:rPr lang="en-US" dirty="0" err="1"/>
              <a:t>pSCSI</a:t>
            </a:r>
            <a:r>
              <a:rPr lang="en-US" dirty="0"/>
              <a:t> in 1986 @</a:t>
            </a:r>
            <a:r>
              <a:rPr lang="en-US" dirty="0" err="1"/>
              <a:t>Compugraphic</a:t>
            </a:r>
            <a:endParaRPr lang="en-US" dirty="0"/>
          </a:p>
          <a:p>
            <a:r>
              <a:rPr lang="en-US" dirty="0"/>
              <a:t>Wrote SCSI subsystem (HBA, disk, tape drivers) for System V</a:t>
            </a:r>
          </a:p>
          <a:p>
            <a:r>
              <a:rPr lang="en-US" dirty="0"/>
              <a:t>Developed streaming SCSI Tape driver for Solaris</a:t>
            </a:r>
          </a:p>
          <a:p>
            <a:r>
              <a:rPr lang="en-US" dirty="0"/>
              <a:t>Enhanced Solaris </a:t>
            </a:r>
            <a:r>
              <a:rPr lang="en-US" i="1" dirty="0"/>
              <a:t>format</a:t>
            </a:r>
            <a:r>
              <a:rPr lang="en-US" dirty="0"/>
              <a:t> utility with extended SCSI commands</a:t>
            </a:r>
          </a:p>
          <a:p>
            <a:r>
              <a:rPr lang="en-US" dirty="0"/>
              <a:t>Member of Tru64 SCSI/</a:t>
            </a:r>
            <a:r>
              <a:rPr lang="en-US" dirty="0">
                <a:hlinkClick r:id="rId2"/>
              </a:rPr>
              <a:t>CAM</a:t>
            </a:r>
            <a:r>
              <a:rPr lang="en-US" dirty="0"/>
              <a:t> </a:t>
            </a:r>
            <a:r>
              <a:rPr lang="en-US"/>
              <a:t>(Common </a:t>
            </a:r>
            <a:r>
              <a:rPr lang="en-US" dirty="0"/>
              <a:t>Access Method) team</a:t>
            </a:r>
          </a:p>
          <a:p>
            <a:pPr lvl="1"/>
            <a:r>
              <a:rPr lang="en-US" dirty="0"/>
              <a:t>Developed IOCTL interfaces, configuration code, tape library driver</a:t>
            </a:r>
          </a:p>
          <a:p>
            <a:r>
              <a:rPr lang="en-US" dirty="0"/>
              <a:t>Developed SCSI CAM Utility (SCU) for Tru64 Unix @DEC</a:t>
            </a:r>
          </a:p>
          <a:p>
            <a:pPr lvl="1"/>
            <a:r>
              <a:rPr lang="en-US" dirty="0"/>
              <a:t>Ported SCU to multiple OS’s for DEC Data Products Group</a:t>
            </a:r>
          </a:p>
          <a:p>
            <a:r>
              <a:rPr lang="en-US" dirty="0"/>
              <a:t>Started developing SCSI pass-through (SPT) in 2006 @NetApp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720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SCSI Pass-Through (SPT) Utility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5854" y="1314450"/>
            <a:ext cx="9357946" cy="4586288"/>
          </a:xfrm>
        </p:spPr>
        <p:txBody>
          <a:bodyPr>
            <a:normAutofit/>
          </a:bodyPr>
          <a:lstStyle/>
          <a:p>
            <a:r>
              <a:rPr lang="en-US" dirty="0"/>
              <a:t>SPT allows SCSI testing via the SCSI pass-through API</a:t>
            </a:r>
          </a:p>
          <a:p>
            <a:pPr lvl="1"/>
            <a:r>
              <a:rPr lang="en-US" dirty="0"/>
              <a:t>This is an OS specific user level API for issuing SCSI operations.</a:t>
            </a:r>
          </a:p>
          <a:p>
            <a:r>
              <a:rPr lang="en-US" dirty="0"/>
              <a:t>Supported on most OS’s, except OSX (lacks SCSI API)</a:t>
            </a:r>
          </a:p>
          <a:p>
            <a:r>
              <a:rPr lang="en-US" dirty="0"/>
              <a:t>A fair amount of code originated from </a:t>
            </a:r>
            <a:r>
              <a:rPr lang="en-US" dirty="0">
                <a:hlinkClick r:id="rId2"/>
              </a:rPr>
              <a:t>DT tool</a:t>
            </a:r>
            <a:endParaRPr lang="en-US" dirty="0"/>
          </a:p>
          <a:p>
            <a:r>
              <a:rPr lang="en-US" dirty="0"/>
              <a:t>SPT is open source, and is available on </a:t>
            </a:r>
            <a:r>
              <a:rPr lang="en-US" dirty="0" err="1"/>
              <a:t>GitHub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3"/>
              </a:rPr>
              <a:t>https://github.com/RobinTMiller/spt</a:t>
            </a:r>
            <a:endParaRPr lang="en-US" dirty="0"/>
          </a:p>
          <a:p>
            <a:pPr lvl="2"/>
            <a:r>
              <a:rPr lang="en-US" dirty="0"/>
              <a:t>Note: </a:t>
            </a:r>
            <a:r>
              <a:rPr lang="en-US" dirty="0" err="1"/>
              <a:t>Github</a:t>
            </a:r>
            <a:r>
              <a:rPr lang="en-US" dirty="0"/>
              <a:t> does NOT include vendor extensions.</a:t>
            </a:r>
          </a:p>
          <a:p>
            <a:r>
              <a:rPr lang="en-US" dirty="0"/>
              <a:t>Storage Enclosure Services (SES) support added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This SPT Tool?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910" y="1314450"/>
            <a:ext cx="9482889" cy="4586288"/>
          </a:xfrm>
        </p:spPr>
        <p:txBody>
          <a:bodyPr>
            <a:norm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Advanced Testing Requires Advanced Test Tools</a:t>
            </a:r>
            <a:endParaRPr lang="en-US" dirty="0"/>
          </a:p>
          <a:p>
            <a:r>
              <a:rPr lang="en-US" dirty="0"/>
              <a:t>Key SPT Features: (one tool versus many)</a:t>
            </a:r>
          </a:p>
          <a:p>
            <a:pPr lvl="1"/>
            <a:r>
              <a:rPr lang="en-US" dirty="0"/>
              <a:t>Specifically designed for SCSI testing</a:t>
            </a:r>
          </a:p>
          <a:p>
            <a:pPr lvl="1"/>
            <a:r>
              <a:rPr lang="en-US" dirty="0"/>
              <a:t>Supports multiple jobs/threads for high load &amp; stress</a:t>
            </a:r>
          </a:p>
          <a:p>
            <a:pPr lvl="1"/>
            <a:r>
              <a:rPr lang="en-US" dirty="0"/>
              <a:t>Supports JavaScript Object Notation (JSON)</a:t>
            </a:r>
          </a:p>
          <a:p>
            <a:r>
              <a:rPr lang="en-US" dirty="0">
                <a:sym typeface="Wingdings" panose="05000000000000000000" pitchFamily="2" charset="2"/>
              </a:rPr>
              <a:t>Useful for developers, automation, and support.</a:t>
            </a:r>
          </a:p>
          <a:p>
            <a:r>
              <a:rPr lang="en-US" dirty="0">
                <a:sym typeface="Wingdings" panose="05000000000000000000" pitchFamily="2" charset="2"/>
              </a:rPr>
              <a:t>This TOI will hopefully whet your appetite!</a:t>
            </a:r>
          </a:p>
          <a:p>
            <a:r>
              <a:rPr lang="en-US" dirty="0"/>
              <a:t>We have internal developer (Robin) and support!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5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8721" y="1281112"/>
            <a:ext cx="8498757" cy="5043488"/>
          </a:xfrm>
        </p:spPr>
        <p:txBody>
          <a:bodyPr>
            <a:normAutofit fontScale="92500"/>
          </a:bodyPr>
          <a:lstStyle/>
          <a:p>
            <a:pPr>
              <a:spcBef>
                <a:spcPts val="600"/>
              </a:spcBef>
            </a:pPr>
            <a:r>
              <a:rPr lang="en-US" dirty="0"/>
              <a:t>Send/Receive Diagnostic Support (added for SES pages)</a:t>
            </a:r>
          </a:p>
          <a:p>
            <a:pPr>
              <a:spcBef>
                <a:spcPts val="600"/>
              </a:spcBef>
            </a:pPr>
            <a:r>
              <a:rPr lang="en-US" dirty="0"/>
              <a:t>Support for I/O Ranges (for read/write/verify operations)</a:t>
            </a:r>
          </a:p>
          <a:p>
            <a:pPr>
              <a:spcBef>
                <a:spcPts val="600"/>
              </a:spcBef>
            </a:pPr>
            <a:r>
              <a:rPr lang="en-US" dirty="0"/>
              <a:t>Support for I/O Modes (copy/verify/mirror operations)</a:t>
            </a:r>
          </a:p>
          <a:p>
            <a:pPr>
              <a:spcBef>
                <a:spcPts val="600"/>
              </a:spcBef>
            </a:pPr>
            <a:r>
              <a:rPr lang="en-US" dirty="0"/>
              <a:t>Support for Multiple Slices (threads for higher load &amp; stress)</a:t>
            </a:r>
          </a:p>
          <a:p>
            <a:pPr>
              <a:spcBef>
                <a:spcPts val="600"/>
              </a:spcBef>
            </a:pPr>
            <a:r>
              <a:rPr lang="en-US" dirty="0"/>
              <a:t>Triage/Recovery Support (detailed errors, recovery,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>
              <a:spcBef>
                <a:spcPts val="600"/>
              </a:spcBef>
            </a:pPr>
            <a:r>
              <a:rPr lang="en-US" dirty="0"/>
              <a:t>Extended SCSI CDB Support (encode/decode CDB’s)</a:t>
            </a:r>
          </a:p>
          <a:p>
            <a:pPr>
              <a:spcBef>
                <a:spcPts val="600"/>
              </a:spcBef>
            </a:pPr>
            <a:r>
              <a:rPr lang="en-US" dirty="0"/>
              <a:t>Enhanced Script File Support (custom test scripts)</a:t>
            </a:r>
          </a:p>
          <a:p>
            <a:pPr>
              <a:spcBef>
                <a:spcPts val="600"/>
              </a:spcBef>
            </a:pPr>
            <a:r>
              <a:rPr lang="en-US" dirty="0"/>
              <a:t>Emit Status Control Strings (roll your own output format)</a:t>
            </a:r>
          </a:p>
          <a:p>
            <a:pPr>
              <a:spcBef>
                <a:spcPts val="600"/>
              </a:spcBef>
            </a:pPr>
            <a:r>
              <a:rPr lang="en-US" dirty="0"/>
              <a:t>Test Check / Expect Options (automatic data/sense checks)</a:t>
            </a:r>
          </a:p>
          <a:p>
            <a:pPr>
              <a:spcBef>
                <a:spcPts val="600"/>
              </a:spcBef>
            </a:pPr>
            <a:r>
              <a:rPr lang="en-US" dirty="0"/>
              <a:t>Provides ASCII and JSON output formats! (work-in-progress)</a:t>
            </a:r>
          </a:p>
          <a:p>
            <a:pPr>
              <a:spcBef>
                <a:spcPts val="600"/>
              </a:spcBef>
            </a:pPr>
            <a:r>
              <a:rPr lang="en-US" dirty="0"/>
              <a:t>Support to unpack SCSI data (decode data in user format)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7938D5-676B-4424-8B52-343AF2A1253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spt TOI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428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SPT Command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2422" y="1314450"/>
            <a:ext cx="9551377" cy="4586288"/>
          </a:xfrm>
        </p:spPr>
        <p:txBody>
          <a:bodyPr>
            <a:normAutofit/>
          </a:bodyPr>
          <a:lstStyle/>
          <a:p>
            <a:r>
              <a:rPr lang="en-US" dirty="0"/>
              <a:t>Basic Command Format:</a:t>
            </a:r>
          </a:p>
          <a:p>
            <a:pPr marL="0" indent="0">
              <a:buNone/>
            </a:pPr>
            <a:r>
              <a:rPr lang="en-US" sz="1600" dirty="0"/>
              <a:t>    # </a:t>
            </a:r>
            <a:r>
              <a:rPr lang="en-US" sz="1600" b="1" dirty="0" err="1"/>
              <a:t>spt</a:t>
            </a:r>
            <a:r>
              <a:rPr lang="en-US" sz="1600" b="1" dirty="0"/>
              <a:t> </a:t>
            </a:r>
            <a:r>
              <a:rPr lang="en-US" sz="1600" b="1" dirty="0" err="1"/>
              <a:t>dsf</a:t>
            </a:r>
            <a:r>
              <a:rPr lang="en-US" sz="1600" b="1" dirty="0"/>
              <a:t>=device </a:t>
            </a:r>
            <a:r>
              <a:rPr lang="en-US" sz="1600" b="1" dirty="0" err="1"/>
              <a:t>cdb</a:t>
            </a:r>
            <a:r>
              <a:rPr lang="en-US" sz="1600" b="1" dirty="0"/>
              <a:t>=‘</a:t>
            </a:r>
            <a:r>
              <a:rPr lang="en-US" sz="1600" b="1" dirty="0" err="1"/>
              <a:t>hh</a:t>
            </a:r>
            <a:r>
              <a:rPr lang="en-US" sz="1600" b="1" dirty="0"/>
              <a:t> </a:t>
            </a:r>
            <a:r>
              <a:rPr lang="en-US" sz="1600" b="1" dirty="0" err="1"/>
              <a:t>hh</a:t>
            </a:r>
            <a:r>
              <a:rPr lang="en-US" sz="1600" b="1" dirty="0"/>
              <a:t> …’ </a:t>
            </a:r>
            <a:r>
              <a:rPr lang="en-US" sz="1600" b="1" dirty="0" err="1"/>
              <a:t>dir</a:t>
            </a:r>
            <a:r>
              <a:rPr lang="en-US" sz="1600" b="1" dirty="0"/>
              <a:t>={</a:t>
            </a:r>
            <a:r>
              <a:rPr lang="en-US" sz="1600" b="1" dirty="0" err="1"/>
              <a:t>none|read|write</a:t>
            </a:r>
            <a:r>
              <a:rPr lang="en-US" sz="1600" b="1" dirty="0"/>
              <a:t>} length=value pout=“</a:t>
            </a:r>
            <a:r>
              <a:rPr lang="en-US" sz="1600" b="1" dirty="0" err="1"/>
              <a:t>hh</a:t>
            </a:r>
            <a:r>
              <a:rPr lang="en-US" sz="1600" b="1" dirty="0"/>
              <a:t> </a:t>
            </a:r>
            <a:r>
              <a:rPr lang="en-US" sz="1600" b="1" dirty="0" err="1"/>
              <a:t>hh</a:t>
            </a:r>
            <a:r>
              <a:rPr lang="en-US" sz="1600" b="1" dirty="0"/>
              <a:t> …” threads=value …</a:t>
            </a:r>
          </a:p>
          <a:p>
            <a:pPr lvl="1"/>
            <a:r>
              <a:rPr lang="en-US" sz="1600" dirty="0" err="1"/>
              <a:t>dsf</a:t>
            </a:r>
            <a:r>
              <a:rPr lang="en-US" sz="1600" dirty="0"/>
              <a:t> is the device special file, e.g. /</a:t>
            </a:r>
            <a:r>
              <a:rPr lang="en-US" sz="1600" dirty="0" err="1"/>
              <a:t>dev</a:t>
            </a:r>
            <a:r>
              <a:rPr lang="en-US" sz="1600" dirty="0"/>
              <a:t>/</a:t>
            </a:r>
            <a:r>
              <a:rPr lang="en-US" sz="1600" dirty="0" err="1"/>
              <a:t>sdXX</a:t>
            </a:r>
            <a:r>
              <a:rPr lang="en-US" sz="1600" dirty="0"/>
              <a:t> or /</a:t>
            </a:r>
            <a:r>
              <a:rPr lang="en-US" sz="1600" dirty="0" err="1"/>
              <a:t>dev</a:t>
            </a:r>
            <a:r>
              <a:rPr lang="en-US" sz="1600" dirty="0"/>
              <a:t>/</a:t>
            </a:r>
            <a:r>
              <a:rPr lang="en-US" sz="1600" dirty="0" err="1"/>
              <a:t>sgXX</a:t>
            </a:r>
            <a:r>
              <a:rPr lang="en-US" sz="1600" dirty="0"/>
              <a:t> or /</a:t>
            </a:r>
            <a:r>
              <a:rPr lang="en-US" sz="1600" dirty="0" err="1"/>
              <a:t>dev</a:t>
            </a:r>
            <a:r>
              <a:rPr lang="en-US" sz="1600" dirty="0"/>
              <a:t>/</a:t>
            </a:r>
            <a:r>
              <a:rPr lang="en-US" sz="1600" dirty="0" err="1"/>
              <a:t>dmXX</a:t>
            </a:r>
            <a:r>
              <a:rPr lang="en-US" sz="1600" dirty="0"/>
              <a:t> (SCSI device)</a:t>
            </a:r>
          </a:p>
          <a:p>
            <a:pPr lvl="1"/>
            <a:r>
              <a:rPr lang="en-US" sz="1600" dirty="0" err="1"/>
              <a:t>cdb</a:t>
            </a:r>
            <a:r>
              <a:rPr lang="en-US" sz="1600" dirty="0"/>
              <a:t> = the Command Descriptor Block hex bytes (use ‘</a:t>
            </a:r>
            <a:r>
              <a:rPr lang="en-US" sz="1600" dirty="0" err="1"/>
              <a:t>spt</a:t>
            </a:r>
            <a:r>
              <a:rPr lang="en-US" sz="1600" dirty="0"/>
              <a:t> </a:t>
            </a:r>
            <a:r>
              <a:rPr lang="en-US" sz="1600" dirty="0" err="1"/>
              <a:t>showopcodes</a:t>
            </a:r>
            <a:r>
              <a:rPr lang="en-US" sz="1600" dirty="0"/>
              <a:t>’ to see operation codes)</a:t>
            </a:r>
          </a:p>
          <a:p>
            <a:pPr lvl="1"/>
            <a:r>
              <a:rPr lang="en-US" sz="1600" dirty="0" err="1"/>
              <a:t>dir</a:t>
            </a:r>
            <a:r>
              <a:rPr lang="en-US" sz="1600" dirty="0"/>
              <a:t> = the data direction (defaults to ‘none’)</a:t>
            </a:r>
          </a:p>
          <a:p>
            <a:pPr lvl="1"/>
            <a:r>
              <a:rPr lang="en-US" sz="1600" dirty="0"/>
              <a:t>length = the data length</a:t>
            </a:r>
          </a:p>
          <a:p>
            <a:pPr lvl="1"/>
            <a:r>
              <a:rPr lang="en-US" sz="1600" dirty="0"/>
              <a:t>pout = the parameter out data (optional)</a:t>
            </a:r>
          </a:p>
          <a:p>
            <a:pPr lvl="1"/>
            <a:r>
              <a:rPr lang="en-US" sz="1600" dirty="0"/>
              <a:t>threads = the number of threads (optional, defaults to 1)</a:t>
            </a:r>
          </a:p>
          <a:p>
            <a:r>
              <a:rPr lang="en-US" dirty="0"/>
              <a:t>Short Hand Commands: (for ease of use)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cs typeface="Courier New" panose="02070309020205020404" pitchFamily="49" charset="0"/>
              </a:rPr>
              <a:t>    # </a:t>
            </a:r>
            <a:r>
              <a:rPr lang="en-US" sz="1600" b="1" dirty="0" err="1">
                <a:cs typeface="Courier New" panose="02070309020205020404" pitchFamily="49" charset="0"/>
              </a:rPr>
              <a:t>spt</a:t>
            </a:r>
            <a:r>
              <a:rPr lang="en-US" sz="1600" b="1" dirty="0"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cs typeface="Courier New" panose="02070309020205020404" pitchFamily="49" charset="0"/>
              </a:rPr>
              <a:t>dsf</a:t>
            </a:r>
            <a:r>
              <a:rPr lang="en-US" sz="1600" b="1" dirty="0">
                <a:cs typeface="Courier New" panose="02070309020205020404" pitchFamily="49" charset="0"/>
              </a:rPr>
              <a:t>=/</a:t>
            </a:r>
            <a:r>
              <a:rPr lang="en-US" sz="1600" b="1" dirty="0" err="1">
                <a:cs typeface="Courier New" panose="02070309020205020404" pitchFamily="49" charset="0"/>
              </a:rPr>
              <a:t>dev</a:t>
            </a:r>
            <a:r>
              <a:rPr lang="en-US" sz="1600" b="1" dirty="0">
                <a:cs typeface="Courier New" panose="02070309020205020404" pitchFamily="49" charset="0"/>
              </a:rPr>
              <a:t>/sg42 </a:t>
            </a:r>
            <a:r>
              <a:rPr lang="en-US" sz="1600" b="1" dirty="0" err="1">
                <a:cs typeface="Courier New" panose="02070309020205020404" pitchFamily="49" charset="0"/>
              </a:rPr>
              <a:t>showhelp</a:t>
            </a:r>
            <a:r>
              <a:rPr lang="en-US" sz="1600" b="1" dirty="0">
                <a:cs typeface="Courier New" panose="02070309020205020404" pitchFamily="49" charset="0"/>
              </a:rPr>
              <a:t>		</a:t>
            </a:r>
            <a:r>
              <a:rPr lang="en-US" sz="1600" dirty="0">
                <a:cs typeface="Courier New" panose="02070309020205020404" pitchFamily="49" charset="0"/>
              </a:rPr>
              <a:t>&lt;- SES PP Help page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cs typeface="Courier New" panose="02070309020205020404" pitchFamily="49" charset="0"/>
              </a:rPr>
              <a:t>	versus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cs typeface="Courier New" panose="02070309020205020404" pitchFamily="49" charset="0"/>
              </a:rPr>
              <a:t>    # </a:t>
            </a:r>
            <a:r>
              <a:rPr lang="en-US" sz="1600" b="1" dirty="0" err="1">
                <a:cs typeface="Courier New" panose="02070309020205020404" pitchFamily="49" charset="0"/>
              </a:rPr>
              <a:t>spt</a:t>
            </a:r>
            <a:r>
              <a:rPr lang="en-US" sz="1600" b="1" dirty="0"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cs typeface="Courier New" panose="02070309020205020404" pitchFamily="49" charset="0"/>
              </a:rPr>
              <a:t>dsf</a:t>
            </a:r>
            <a:r>
              <a:rPr lang="en-US" sz="1600" b="1" dirty="0">
                <a:cs typeface="Courier New" panose="02070309020205020404" pitchFamily="49" charset="0"/>
              </a:rPr>
              <a:t>=/</a:t>
            </a:r>
            <a:r>
              <a:rPr lang="en-US" sz="1600" b="1" dirty="0" err="1">
                <a:cs typeface="Courier New" panose="02070309020205020404" pitchFamily="49" charset="0"/>
              </a:rPr>
              <a:t>dev</a:t>
            </a:r>
            <a:r>
              <a:rPr lang="en-US" sz="1600" b="1" dirty="0">
                <a:cs typeface="Courier New" panose="02070309020205020404" pitchFamily="49" charset="0"/>
              </a:rPr>
              <a:t>/sg42 </a:t>
            </a:r>
            <a:r>
              <a:rPr lang="en-US" sz="1600" b="1" dirty="0" err="1">
                <a:cs typeface="Courier New" panose="02070309020205020404" pitchFamily="49" charset="0"/>
              </a:rPr>
              <a:t>cdb</a:t>
            </a:r>
            <a:r>
              <a:rPr lang="en-US" sz="1600" b="1" dirty="0">
                <a:cs typeface="Courier New" panose="02070309020205020404" pitchFamily="49" charset="0"/>
              </a:rPr>
              <a:t>="1c 01 03 </a:t>
            </a:r>
            <a:r>
              <a:rPr lang="en-US" sz="1600" b="1" dirty="0" err="1">
                <a:cs typeface="Courier New" panose="02070309020205020404" pitchFamily="49" charset="0"/>
              </a:rPr>
              <a:t>ff</a:t>
            </a:r>
            <a:r>
              <a:rPr lang="en-US" sz="1600" b="1" dirty="0"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cs typeface="Courier New" panose="02070309020205020404" pitchFamily="49" charset="0"/>
              </a:rPr>
              <a:t>ff</a:t>
            </a:r>
            <a:r>
              <a:rPr lang="en-US" sz="1600" b="1" dirty="0">
                <a:cs typeface="Courier New" panose="02070309020205020404" pitchFamily="49" charset="0"/>
              </a:rPr>
              <a:t> 00" </a:t>
            </a:r>
            <a:r>
              <a:rPr lang="en-US" sz="1600" b="1" dirty="0" err="1">
                <a:cs typeface="Courier New" panose="02070309020205020404" pitchFamily="49" charset="0"/>
              </a:rPr>
              <a:t>dir</a:t>
            </a:r>
            <a:r>
              <a:rPr lang="en-US" sz="1600" b="1" dirty="0">
                <a:cs typeface="Courier New" panose="02070309020205020404" pitchFamily="49" charset="0"/>
              </a:rPr>
              <a:t>=read length=65535 </a:t>
            </a:r>
            <a:r>
              <a:rPr lang="en-US" sz="1600" b="1" dirty="0" err="1">
                <a:cs typeface="Courier New" panose="02070309020205020404" pitchFamily="49" charset="0"/>
              </a:rPr>
              <a:t>sname</a:t>
            </a:r>
            <a:r>
              <a:rPr lang="en-US" sz="1600" b="1" dirty="0">
                <a:cs typeface="Courier New" panose="02070309020205020404" pitchFamily="49" charset="0"/>
              </a:rPr>
              <a:t>="Receive Diagnostic"</a:t>
            </a:r>
          </a:p>
          <a:p>
            <a:r>
              <a:rPr lang="en-US" dirty="0"/>
              <a:t>I/O Parameters also Simplify CDB Generation:</a:t>
            </a:r>
          </a:p>
          <a:p>
            <a:pPr marL="0" indent="0">
              <a:buNone/>
            </a:pPr>
            <a:r>
              <a:rPr lang="en-US" sz="1600" dirty="0"/>
              <a:t>    # </a:t>
            </a:r>
            <a:r>
              <a:rPr lang="en-US" sz="1600" b="1" dirty="0" err="1"/>
              <a:t>spt</a:t>
            </a:r>
            <a:r>
              <a:rPr lang="en-US" sz="1600" b="1" dirty="0"/>
              <a:t> </a:t>
            </a:r>
            <a:r>
              <a:rPr lang="en-US" sz="1600" b="1" dirty="0" err="1"/>
              <a:t>dsf</a:t>
            </a:r>
            <a:r>
              <a:rPr lang="en-US" sz="1600" b="1" dirty="0"/>
              <a:t>=/</a:t>
            </a:r>
            <a:r>
              <a:rPr lang="en-US" sz="1600" b="1" dirty="0" err="1"/>
              <a:t>dev</a:t>
            </a:r>
            <a:r>
              <a:rPr lang="en-US" sz="1600" b="1" dirty="0"/>
              <a:t>/</a:t>
            </a:r>
            <a:r>
              <a:rPr lang="en-US" sz="1600" b="1" dirty="0" err="1"/>
              <a:t>sdl</a:t>
            </a:r>
            <a:r>
              <a:rPr lang="en-US" sz="1600" b="1" dirty="0"/>
              <a:t> </a:t>
            </a:r>
            <a:r>
              <a:rPr lang="en-US" sz="1600" b="1" dirty="0" err="1"/>
              <a:t>cdb</a:t>
            </a:r>
            <a:r>
              <a:rPr lang="en-US" sz="1600" b="1" dirty="0"/>
              <a:t>=0x88 </a:t>
            </a:r>
            <a:r>
              <a:rPr lang="en-US" sz="1600" b="1" dirty="0" err="1"/>
              <a:t>bs</a:t>
            </a:r>
            <a:r>
              <a:rPr lang="en-US" sz="1600" b="1" dirty="0"/>
              <a:t>=64k starting=0 limit=1g slices=10   </a:t>
            </a:r>
            <a:r>
              <a:rPr lang="en-US" sz="1600" dirty="0"/>
              <a:t>(READ (16) of 64k to limit of 1g of data)</a:t>
            </a:r>
          </a:p>
          <a:p>
            <a:pPr marL="0" indent="0">
              <a:buNone/>
            </a:pPr>
            <a:endParaRPr lang="en-US" sz="1400" dirty="0"/>
          </a:p>
          <a:p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535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Send/Receive Diagnostic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0752" y="1314450"/>
            <a:ext cx="9543047" cy="4586288"/>
          </a:xfrm>
        </p:spPr>
        <p:txBody>
          <a:bodyPr>
            <a:normAutofit/>
          </a:bodyPr>
          <a:lstStyle/>
          <a:p>
            <a:r>
              <a:rPr lang="en-US" dirty="0"/>
              <a:t>Options Added for Storage Enclosure Services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Storage Enclosure Services (SES) Specific Options: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element_index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=value   The element index.       (or element=)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element_tcode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=value   The element type code.   (or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etcode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element_scode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=value   The element status code. (or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escode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element_type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=string   The element type.        (or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etype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element_status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=string The element status.      (or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rcvdiag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Issue a receive diagnostic command.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senddiag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Issue a send diagnostic command.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showhelp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Show enclosure help text diagnostic page.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Examples: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rcvdiag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page=configuration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965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815975"/>
          </a:xfrm>
        </p:spPr>
        <p:txBody>
          <a:bodyPr/>
          <a:lstStyle/>
          <a:p>
            <a:r>
              <a:rPr lang="en-US" dirty="0"/>
              <a:t>Diagnostic Page Codes/Names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1314450"/>
            <a:ext cx="9639300" cy="4933950"/>
          </a:xfrm>
        </p:spPr>
        <p:txBody>
          <a:bodyPr>
            <a:normAutofit/>
          </a:bodyPr>
          <a:lstStyle/>
          <a:p>
            <a:r>
              <a:rPr lang="en-US" dirty="0"/>
              <a:t>Added Specifically for Storage Enclosure Devices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rcvdiag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page=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(pages in 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green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support decode functions)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Diagnostic Page Codes/Names: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0x00 - Supported (supported)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0x01 - Configuration (configuration)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0x02 - Enclosure Control/Status (enclosure)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0x03 - Help (help)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0x04 - String In/Out (string)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0x05 - Threshold In/Out (threshold)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0x07 - Element Descriptor (element)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0x08 - Short Enclosure Status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short_enclosure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0x09 - Enclosure Busy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enclosure_busy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0x0a - Additional Element Status (</a:t>
            </a:r>
            <a:r>
              <a:rPr lang="en-US" sz="1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addl_enc_status</a:t>
            </a:r>
            <a:r>
              <a:rPr lang="en-US" sz="1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0x0b -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Subenclosure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Help Text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subenc_help_text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0x0c -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Subenclosure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String In/Out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subenc_string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0x0d - SES Diagnostic Pages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ses_diagnostic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0x0e - Download Microcode Control/Status (download)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0x0f -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Subenclosure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Nickname Control/Status 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subenc_nickname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756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Enclosure Services (SES)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2862" y="1314450"/>
            <a:ext cx="9500937" cy="45862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SES Pages Supported Today:</a:t>
            </a:r>
          </a:p>
          <a:p>
            <a:pPr lvl="1"/>
            <a:r>
              <a:rPr lang="en-US" dirty="0"/>
              <a:t>0x00 = supported pages</a:t>
            </a:r>
          </a:p>
          <a:p>
            <a:pPr lvl="1"/>
            <a:r>
              <a:rPr lang="en-US" dirty="0"/>
              <a:t>0x01 = configuration</a:t>
            </a:r>
          </a:p>
          <a:p>
            <a:pPr lvl="1"/>
            <a:r>
              <a:rPr lang="en-US" dirty="0"/>
              <a:t>0x02 = enclosure status</a:t>
            </a:r>
          </a:p>
          <a:p>
            <a:pPr lvl="1"/>
            <a:r>
              <a:rPr lang="en-US" dirty="0"/>
              <a:t>0x03 = help text (</a:t>
            </a:r>
            <a:r>
              <a:rPr lang="en-US" b="1" dirty="0" err="1"/>
              <a:t>showhelp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0x04 = string in status</a:t>
            </a:r>
          </a:p>
          <a:p>
            <a:pPr lvl="1"/>
            <a:r>
              <a:rPr lang="en-US" dirty="0"/>
              <a:t>0x07 = element descriptors</a:t>
            </a:r>
          </a:p>
          <a:p>
            <a:pPr lvl="1"/>
            <a:r>
              <a:rPr lang="en-US" dirty="0"/>
              <a:t>0x0a = additional element status</a:t>
            </a:r>
          </a:p>
          <a:p>
            <a:pPr lvl="1"/>
            <a:r>
              <a:rPr lang="en-US" dirty="0"/>
              <a:t>0x0e = download microcode</a:t>
            </a:r>
          </a:p>
          <a:p>
            <a:r>
              <a:rPr lang="en-US" dirty="0"/>
              <a:t>Two output formats supported:</a:t>
            </a:r>
          </a:p>
          <a:p>
            <a:pPr lvl="1"/>
            <a:r>
              <a:rPr lang="en-US" dirty="0"/>
              <a:t>ASCII format (default)</a:t>
            </a:r>
          </a:p>
          <a:p>
            <a:pPr lvl="1"/>
            <a:r>
              <a:rPr lang="en-US" dirty="0"/>
              <a:t>JSON format (added for automation)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634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Supported Diagnostic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8562" y="1314450"/>
            <a:ext cx="9615237" cy="480962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rcvdiag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page=supported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Diagnostic Pages Supported: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Supported Page (Code = 0x00)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Configuration Page (Code = 0x01)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Enclosure Control/Status Page (Code = 0x02)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Help Page (Code = 0x03)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String In/Out Page (Code = 0x04)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Threshold In/Out Page (Code = 0x05)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Element Descriptor Page (Code = 0x07)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Additional Element Status Page (Code = 0x0a)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Download Microcode Control/Status Page (Code = 0x0e)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Tag Data In/Out Page (Code = 0x10)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Mini SAS HD Cable VPD Page (Code = 0x17)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17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 Configuration Page (PP Enclosure)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0752" y="1314450"/>
            <a:ext cx="9543047" cy="4586288"/>
          </a:xfrm>
        </p:spPr>
        <p:txBody>
          <a:bodyPr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rcvdiag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page=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Configuration Diagnostic Page: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Page Code: 0x1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Number of Secondary Enclosures: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Page Length: 244 (0xf4)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Generation Number: 0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Enclosure Descriptor List: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Number Enclosure Services Processes: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Relative Enclosure Services Process ID: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Subenclosure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Identifier: 0 (Primary)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Number of Type Descriptor Headers: 10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Enclosure Descriptor Length: 36 (0x24)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Enclosure Logical Identifier: 0x5000ccab00ff0108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Vendor Identification: HGST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Product Identification: STOR ENCL JBOD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Product Revision Level: 0116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Element Type: Array Device Slot (0x17)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Number of Elements: 98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Subenclosure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Identifier: 0 (Primary)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Text Length: 16 (0x10)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Element Text: 'Array Slots     '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	...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79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 Configuration Page (JSON format)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1554" y="1314450"/>
            <a:ext cx="9472245" cy="4901712"/>
          </a:xfrm>
        </p:spPr>
        <p:txBody>
          <a:bodyPr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rcvdiag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page=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output-format=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"Configuration":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"Length": 8,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"Offset":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"Bytes": "01 00 00 f4 00 00 00 00",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"Page Code": "0x01",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"Secondary Enclosures":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"Page Length": 244,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"Generation Number":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"Enclosure Descriptor List": [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"Length": 40,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"Offset": 8,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"Bytes": "11 00 0a 24 50 00 cc ab 00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01 08 48 47 53 54 20 20 20 20 53 54 4f 52 20 45 4e 43 4c 20 4a 42 4f 44 20 20 30 31 31 36",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"Enclosure Services Processes": 1,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"Reserved (byte 0, bit 3)":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"Reserved (byte 0, bit 7)":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Subenclosure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Identifier":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"Type Descriptor Headers": 10,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"Enclosure Descriptor Length": 36,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"Enclosure Logical Identifier": "0x5000ccab00ff0108",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"Vendor Identification": "HGST    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"Product Identification": "STOR ENCL JBOD  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"Product Revision Level": "0116"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],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...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533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 Element Descriptor Page with Debug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3968" y="1314450"/>
            <a:ext cx="9489831" cy="4586288"/>
          </a:xfrm>
        </p:spPr>
        <p:txBody>
          <a:bodyPr>
            <a:normAutofit/>
          </a:bodyPr>
          <a:lstStyle/>
          <a:p>
            <a:pPr marL="0" indent="0">
              <a:spcBef>
                <a:spcPts val="1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rcvdiag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page=element enable=Debug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0" indent="0">
              <a:spcBef>
                <a:spcPts val="1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Element Descriptor Diagnostic Page:</a:t>
            </a:r>
          </a:p>
          <a:p>
            <a:pPr marL="0" indent="0">
              <a:spcBef>
                <a:spcPts val="1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Length: 8 (0x8)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Offset 0 (0x0): 07 00 16 32 00 00 00 00 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</a:t>
            </a:r>
            <a:r>
              <a:rPr lang="en-US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Page Code: 0x7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Reserved (byte 1): 0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Page Length: 5682 (0x1632)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Generation Number: 0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		...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Element Location: 230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Length: 4 (0x4)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Offset 4966 (0x1366): 00 00 00 38 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Element Descriptor: 0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Element Text: IOM             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Reserved (byte 0): 0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Reserved (byte 1): 0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Descriptor Length: 56 (0x38)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Index: 00 01 02 03 04 05 06 07 08 09 10 11 12 13 14 15 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Offset 4970 (0x136a): 45 53 43 45 20 49 4f 4d 20 20 20 20 20 20 20 20 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E  S  C  E     I  O  M                         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Index: 16 17 18 19 20 21 22 23 24 25 26 27 28 29 30 31 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Offset 4986 (0x137a): 31 45 42 30 30 35 30 2d 33 41 20 20 20 20 20 20 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1  E  B  0  0  5  0  -  3  A                   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Index: 32 33 34 35 36 37 38 39 40 41 42 43 44 45 46 47 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Offset 5002 (0x138a): 54 48 43 4c 53 30 34 35 31 35 52 49 30 30 31 42 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T  H  C  L  S  0  4  5  1  5  R  I  0  0  1  B 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Index: 48 49 50 51 52 53 54 55 56 57 58 59 60 61 62 63 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Offset 5018 (0x139a): 30 31 31 36 2d 30 30 31 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0  1  1  6  -  0  0  1 </a:t>
            </a:r>
          </a:p>
          <a:p>
            <a:pPr marL="0" indent="0">
              <a:spcBef>
                <a:spcPts val="1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Descriptor Text: 'ESCE IOM        1EB0050-3A      THCLS04515RI001B0116-001'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605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Support for SCSI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6722" y="1314450"/>
            <a:ext cx="9437077" cy="4586288"/>
          </a:xfrm>
        </p:spPr>
        <p:txBody>
          <a:bodyPr/>
          <a:lstStyle/>
          <a:p>
            <a:r>
              <a:rPr lang="en-US" dirty="0"/>
              <a:t>Added Built-in Options for Several SCSI Commands:</a:t>
            </a:r>
          </a:p>
          <a:p>
            <a:pPr lvl="1"/>
            <a:r>
              <a:rPr lang="en-US" dirty="0"/>
              <a:t> inquiry {page=value}    Show Inquiry or specific page.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logsense</a:t>
            </a:r>
            <a:r>
              <a:rPr lang="en-US" dirty="0"/>
              <a:t> {page=value} Show Log pages supported or page.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zerolog</a:t>
            </a:r>
            <a:r>
              <a:rPr lang="en-US" dirty="0"/>
              <a:t> {page=value}    Zero all Log pages or specific page.</a:t>
            </a:r>
          </a:p>
          <a:p>
            <a:pPr lvl="1"/>
            <a:r>
              <a:rPr lang="en-US" dirty="0"/>
              <a:t> readcapacity16              Show disk capacity (16 byte CDB).</a:t>
            </a:r>
          </a:p>
          <a:p>
            <a:r>
              <a:rPr lang="en-US" dirty="0"/>
              <a:t>Support based on automation requirements (so far).</a:t>
            </a:r>
          </a:p>
          <a:p>
            <a:r>
              <a:rPr lang="en-US" dirty="0"/>
              <a:t>Support includes both ASCII and JSON output formats.</a:t>
            </a:r>
          </a:p>
          <a:p>
            <a:r>
              <a:rPr lang="en-US" dirty="0"/>
              <a:t>FYI: When page value is omitted, displays page help.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055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Inquiry and Log Sense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8326" y="1314450"/>
            <a:ext cx="9705474" cy="4586288"/>
          </a:xfrm>
        </p:spPr>
        <p:txBody>
          <a:bodyPr/>
          <a:lstStyle/>
          <a:p>
            <a:r>
              <a:rPr lang="en-US" dirty="0"/>
              <a:t>Additional SCSI information added for Inquiry/Log Sense</a:t>
            </a:r>
          </a:p>
          <a:p>
            <a:pPr lvl="1"/>
            <a:r>
              <a:rPr lang="en-US" dirty="0"/>
              <a:t>Log Sense Protocol Specific Port page 0x18</a:t>
            </a:r>
          </a:p>
          <a:p>
            <a:pPr lvl="1"/>
            <a:r>
              <a:rPr lang="en-US" dirty="0"/>
              <a:t>Pages implemented are available in both ASCII and JSON</a:t>
            </a:r>
          </a:p>
          <a:p>
            <a:pPr lvl="2"/>
            <a:r>
              <a:rPr lang="en-US" dirty="0"/>
              <a:t>JSON avoids “screen scrapping”, and parses easily into Python dictionaries</a:t>
            </a:r>
          </a:p>
          <a:p>
            <a:pPr lvl="2"/>
            <a:r>
              <a:rPr lang="en-US" dirty="0"/>
              <a:t>JSON includes offset/hex bytes and all reserved/obsolete fields</a:t>
            </a:r>
          </a:p>
          <a:p>
            <a:pPr lvl="3"/>
            <a:r>
              <a:rPr lang="en-US" dirty="0"/>
              <a:t>This latter information can be used by automation for full verification</a:t>
            </a:r>
          </a:p>
          <a:p>
            <a:pPr lvl="1"/>
            <a:r>
              <a:rPr lang="en-US" dirty="0"/>
              <a:t>Note: Others to be added, when required and requested.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686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Standard HGST Disk Inquiry (ASCII)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4578" y="1314450"/>
            <a:ext cx="9609221" cy="458628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sdcu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inquiry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Inquiry Information: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Peripheral Device Type: 0 (Direct Access Device)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Peripheral Qualifier: 0 (Peripheral Device Connected)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Logical Unit Conglomerate: 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Removable Media: 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ANSI Version: 6 (Complies to ANSI INCITS 513 Revision 37a)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Response Data Format: 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Historical Support: 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Normal ACA Support: 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Additional Length: 159 (0x9f)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Supports Protection Information: 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Third Party Copy Support: 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Target Port Group Support: 0 (ALUA not supported)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Storage Controller Components: 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Multiple SCSI Ports: 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Port Receiving Inquiry: 0 (Port A)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Embedded Enclosure Services: 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Command Queuing Support: 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Vendor Identification: HGST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Product Identification: HUH728080AL4200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Firmware Revision Level: A7D8</a:t>
            </a:r>
            <a:r>
              <a:rPr lang="en-US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   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806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Standard HGST Disk Inquiry (JSON)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4578" y="1181100"/>
            <a:ext cx="9609221" cy="5026660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sdcu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inquiry output-format=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endParaRPr 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"Inquiry":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"Length": 164,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"Offset":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"Bytes": "00 00 06 12 9f 01 10 02 48 47 53 54 20 20 20 20 48 55 48 37 32 38 30 38 30 41 4c 34 32 30 30 20 41 37 44 38 32 45 47 31 36 34 36 4a 00 00 00 00 00 00 00 00 00 00 00 00 00 00 00 00 00 00 00 00 00 00 00 00 00 00 00 00 00 00 00 00 00 00 00 00 00 00 00 00 00 00 00 00 00 00 00 00 00 00 00 00 43 6f 70 79 72 69 67 68 74 20 28 43 29 20 48 47 53 54 2c 20 61 20 57 65 73 74 65 72 6e 20 44 69 67 69 74 61 6c 20 43 6f 6d 70 61 6e 79 2e 20 20 20 20 00 00 00 00 00 00 00 00 00 00 00 00 00 00 00 00 00 00",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"Peripheral Device Type":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"Peripheral Device Type Description": "Direct Access Device",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"Peripheral Qualifier":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"Peripheral Qualifier Description": "Peripheral Device Connected",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"Reserved (byte 1, bits 0:5)":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"Logical Unit Conglomerate": false,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"Removable Media": false,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"ANSI Version": 6,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"ANSI Version Description": "Complies to ANSI INCITS 513 Revision 37a",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"Response Data Format": 2,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"Historical Support": true,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"Normal ACA Support": false,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"Reserved (byte 3, bits 6:2)":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"Additional Length": 159,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"Supports Protection Information": true,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"Third Party Copy Support": false,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"Target Port Group Support":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"Target Port Group Support Description": "ALUA not supported",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"Obsolete (byte 5, bit 6)":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"Storage Controller Components": false,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"Obsolete (byte 6, bit 0)":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"Reserved (byte 6, bits 1:2)":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"Obsolete (byte 6, bit 3)":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"Multiple SCSI Ports": true,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"Port Receiving Inquiry": "A",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"Embedded Enclosure Services": false,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"Obsolete (byte 6, bit 7)": false,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"Vendor Specific (byte 7, bit 0)": false,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"Command Queuing Support": true,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"Reserved (byte 7, bit 2)":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"Obsolete (byte 7, bits 3:3)":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"Reserved (byte 7, bit 6)":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"Obsolete (byte 7, bit 7)":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"Vendor Identification": "HGST    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"Product Identification": "HUH728080AL4200 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"JSON Status":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84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71674"/>
          </a:xfrm>
        </p:spPr>
        <p:txBody>
          <a:bodyPr/>
          <a:lstStyle/>
          <a:p>
            <a:r>
              <a:rPr lang="en-US" dirty="0"/>
              <a:t>Acquiring HGST Full Firmware Version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503486"/>
            <a:ext cx="5157787" cy="492736"/>
          </a:xfrm>
        </p:spPr>
        <p:txBody>
          <a:bodyPr/>
          <a:lstStyle/>
          <a:p>
            <a:r>
              <a:rPr lang="en-US" dirty="0"/>
              <a:t>SG Inquiry Method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62908"/>
            <a:ext cx="5042266" cy="4026755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sg_inq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--page=0x03 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sdl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VPD INQUIRY: ASCII information page, FRU code=0x3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Vendor specific information in hex: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00     00 00 00 00 00 00 00 00  00 00 00 00 00 00 00 00    ................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10     00 00 00 4c 48 47 54 43  33 32 32 00 00 00 00 32    ...</a:t>
            </a:r>
            <a:r>
              <a:rPr lang="en-US" sz="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LHGTC322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....2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20     30 30 31 43 33 32 32 30  30 30 01 33 32 32 00 31    001C322000.322.1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30     30 2f 31 39 2f 31 36 20  31 34 3a 30 35 3a 32 38    0/19/16 14:05:28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40     00 00 00 00 00 00 00 00  00 00 00 01 01 0e 24 4c    ..............$L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50     48 41 34 4b 00 00 00 45  4e 43 5f 30 36 47 5f 52    HA4K...ENC_06G_R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60     45 4c 45 41 53 45 00 62  6c 64 63 72 65 77 00 00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ELEASE.bldcrew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..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70     00 00 00 66 6f 72 67 65  30 32 00 00 00 00 00 00    ...forge02......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80     00 00 00 43 3a 2f 54 65  6d 70 2f 63 63 62 37 2f    ...C:/Temp/ccb7/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90     52 33 32 32 2f 6c 69 62  72 61 72 79 2f 4c 48 41    R322/library/LHA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a0     34 4b 00 00 00 00 05 00  01 00 00 00 00 00 00 00    4K..............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b0     00 00 00 00 00 00 02 43  33 32 32                   .......C322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  <a:p>
            <a:pPr marL="0" indent="0">
              <a:spcBef>
                <a:spcPts val="300"/>
              </a:spcBef>
              <a:buNone/>
            </a:pP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Python Snippet: (old way)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message = "Find full firmware version for SAS drive"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command = "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{0}/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sg_inq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-p0x03 -H {1} |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10 | head -1 |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awk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-F '.' '{{print $NF}}'"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.format(self._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tools_directory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drive)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sg_inq_output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self._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run_command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(command=command, message=message, logger=logger, shell=True)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firmware =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sg_inq_output.strip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03487"/>
            <a:ext cx="5183188" cy="492735"/>
          </a:xfrm>
        </p:spPr>
        <p:txBody>
          <a:bodyPr/>
          <a:lstStyle/>
          <a:p>
            <a:r>
              <a:rPr lang="en-US" dirty="0"/>
              <a:t>Versus SPT JSON Method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62908"/>
            <a:ext cx="5266592" cy="4026755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inquiry page=0x03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ofmt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"ASCII Information": {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"Length": 192,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fr-FR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"Page Code": "0x03",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fr-FR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"Page </a:t>
            </a:r>
            <a:r>
              <a:rPr lang="fr-FR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fr-FR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188,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sv-SE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"Bytes": "00 03 00 bc 00 00 00 ...”</a:t>
            </a: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"ASCII </a:t>
            </a:r>
            <a:r>
              <a:rPr lang="en-US" sz="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uCode</a:t>
            </a:r>
            <a:r>
              <a:rPr lang="en-US" sz="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Identifier": "LHGTC322",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"ASCII Servo Part Number": "2001",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"Code Mode Description": "OM_DISK - Drive is running code loaded from disk",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"Flash Code Major Version": "C3",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"Flash Code Minor Version": "22",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"JSON Status": 0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300"/>
              </a:spcBef>
              <a:buNone/>
            </a:pP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Python Snippet: (new way)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message = "Find full firmware version for SAS drive"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command = 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"{0}/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={1} inquiry page=ascii_info_page03 output-format=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emit=".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format(self._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tools_directory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disk_dev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spt_json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self._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run_command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(command=command, message=message, logger=logger, shell=False)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page03 =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json.loads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spt_json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current_firmware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page03['ASCII Information']['ASCII </a:t>
            </a:r>
            <a:r>
              <a:rPr lang="en-US" sz="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uCode</a:t>
            </a:r>
            <a:r>
              <a:rPr lang="en-US" sz="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Identifier'].strip()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50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Showing SCSI Log Sense Page Code/Names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1314450"/>
            <a:ext cx="9639300" cy="4586288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logsense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page=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(pages in </a:t>
            </a:r>
            <a:r>
              <a:rPr lang="en-US" sz="1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green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support decode functions)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Log Page Codes/Names: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0x00 - Supported (supported)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0x01 - Buffer Overrun/Underrun Counter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overrun_underrun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0x02 - Write Error Counter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write_error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0x03 - Read Error Counter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read_error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0x04 - Read Reverse Error Counter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read_reverse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0x05 - Verify Error Counter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verify_error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0x06 - Non-medium error counter (non-medium)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0x07 - Last n error events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last_error_events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0x08 - Format Status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format_status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0x0b - Last n Deferred or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Async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Events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last_deferred_events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0x0a - Sequential-Access Device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sequential_access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0x0c - Logical Block Provisioning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logical_block_provisioning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0x0d - Temperature (temperature)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0x0e - Start-stop Cycle Counter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start_stop_cycle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0x0f - Application Client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application_client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0x10 - Self-Test Results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self_test_results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0x11 - Solid State Media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solid_state_media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0x15 - Background-Scan Results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background_scan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0x17 - Non-Volatile Cache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non_volatile_cache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0x18 - Protocol Specific Port (</a:t>
            </a:r>
            <a:r>
              <a:rPr lang="en-U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protocol_specific_port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0x19 - Statistics and Performance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statistics_performance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0x1a - SMART Status &amp; Temp Reading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smart_status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0x2f - Informational Exceptions (informational)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0x30 - Performance Counters (performance)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0x37 - Miscellaneous Data Counters (</a:t>
            </a:r>
            <a:r>
              <a:rPr lang="en-US" sz="12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misc_data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040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Sense Protocol Specific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2569" y="1314450"/>
            <a:ext cx="9261231" cy="458628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sddf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logsense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page=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protocol_specific_port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0" indent="0">
              <a:spcBef>
                <a:spcPts val="0"/>
              </a:spcBef>
              <a:buNone/>
            </a:pP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Protocol Specific Port Parameters (Page 0x18 - Current Cumulative Values):</a:t>
            </a:r>
          </a:p>
          <a:p>
            <a:pPr marL="0" indent="0">
              <a:spcBef>
                <a:spcPts val="0"/>
              </a:spcBef>
              <a:buNone/>
            </a:pP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Page Code: 0x18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Subpage Code: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Page Length: 216 (0xd8)</a:t>
            </a:r>
          </a:p>
          <a:p>
            <a:pPr marL="0" indent="0">
              <a:spcBef>
                <a:spcPts val="0"/>
              </a:spcBef>
              <a:buNone/>
            </a:pP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Parameter Code: 0x1 (Primary Port)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Format and Linking: 3 (Binary format list)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Target Save Disable (TSD):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Parameter Length: 104 (0x68)</a:t>
            </a:r>
          </a:p>
          <a:p>
            <a:pPr marL="0" indent="0">
              <a:spcBef>
                <a:spcPts val="0"/>
              </a:spcBef>
              <a:buNone/>
            </a:pP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Protocol Identifier: 0x6 (SAS Serial SCSI Protocol)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Generation Code: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Number of PHYs: 1</a:t>
            </a:r>
          </a:p>
          <a:p>
            <a:pPr marL="0" indent="0">
              <a:spcBef>
                <a:spcPts val="0"/>
              </a:spcBef>
              <a:buNone/>
            </a:pPr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SAS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Log Descriptor: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Identifier: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SAS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Log Descriptor Length: 96 (0x60)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Attached Reason: 8 (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Test Function Stopped)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Attached Device Type: 2 (Expander device)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Negotiated Physical Link Rate: 0xa (6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Gbps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Last Link Reset Reason: 0 (Power On)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SMP Initiator Port: 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STP Initiator Port: 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SSP Initiator Port: 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SMP Target Port: 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STP Target Port: 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SSP Target Port: False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The SAS Address: 0x5000cca2510349b5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Attached SAS Address: 0x5000ccab00ff010b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Attached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Identifier: 13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Invalid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Count: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Running Disparity Error Count: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Loss of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Dword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Synchronization: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Reset Problem: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Phy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Event Descriptor Length: 12 (0xc)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Number of Event Descriptors: 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		…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836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SCSI Read Capacity (16)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4838" y="1314450"/>
            <a:ext cx="9568962" cy="458628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sddf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readcapacity16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Read Capacity(16) Data: (data length 32 bytes)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Maximum Capacity: 2441609216 (9537536.000 megabytes)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Block Length: 4096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Protection Enabled: No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Protection Type: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Logical Blocks per Physical Exponent: 0 (1 blocks per physical)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Protection Information Exponent: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Logical Block Provisioning Management: No (Full Provisioned)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Logical Block Provisioning Read Zeroes: No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Lowest Aligned Logical Block Address: 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sddf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readcapacity16 output-format=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"Read Capacity(16)":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"Length": 32,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"Offset":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"Bytes": "00 00 00 00 91 87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00 00 10 00 00 00 00 00 00 00 00 00 00 00 00 00 00 00 00 00 00 00 00 00",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"Maximum Capacity": 2441609216,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"Block Length": 4096,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"Protection Enabled": false,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"Protection Type":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"Logical Blocks per Physical Exponent":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"Protection Information Exponent":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"Logical Block Provisioning Management": false,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"Logical Block Provisioning Read Zeroes": false,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"Lowest Aligned Logical Block Address": 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"JSON Status":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324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Showing SCSI Operation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1362" y="1314449"/>
            <a:ext cx="9252438" cy="4945673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showopcodes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Subcode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Direction  Encode  Decode   Default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Name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------  -------  ---------  ------  ------  ---------  -----------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0x40    0x00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Change Definition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0x39    0x00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Compare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0x18    0x00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Copy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0x3a    0x00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Copy and Verify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0x46    0x00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Get Configuration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0x12    0xff      read      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yes    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0  Inquiry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0x12    0x00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Inquiry - Supported Pages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0x12    0x80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Inquiry - Serial Number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0x12    0x83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Inquiry - Device Identification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0x12    0x85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Inquiry - Management Network Addresses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0x12    0x86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Inquiry - Extended Inquiry Data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0x12    0x87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Inquiry - Mode Page Policy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0x12    0x8f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Inquiry - Third-party Copy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0x12    0xb0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Inquiry - Block Limits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0x12    0xb2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Inquiry - Logical Block Provisioning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0x4c    0x00      write     yes     no             0  Log Select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0x4d    0x00      read      yes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0  Log Sense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0x15    0x00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Mode Select(6)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0x55    0x00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Mode Select(10)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0x1a    0x00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Mode Sense(6)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0x5a    0x00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Mode Sense(10)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0x3c    0x00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Read Buffer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0x1c    0x00      read      yes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0  Receive Diagnostic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0x03    0x00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Request Sense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0x1d    0x00      write     yes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0  Send Diagnostic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0x00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0x00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Test Unit Ready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0x8a    0x00      write     yes     no             0  Write(16)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0x8e    0x00      write     yes     no             0  Write and Verify(16)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0x8f    0x00      none      yes     no         65536  Verify(16)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0x91    0x00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Synchronize Cache(16)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0x93    0x00      write     yes     no         65536  Write Same(16)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0x9e    0x00      read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Service Action In(16)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0x9e    0x10      read      yes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yes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0  Read Capacity(16)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0x9e    0x12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Get LBA Status(16)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0x89    0x00      none      no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0  Compare and Write(16)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568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Testing of Multiple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2585" y="1314450"/>
            <a:ext cx="9431214" cy="45862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Multiple Jobs via Script File (same as </a:t>
            </a:r>
            <a:r>
              <a:rPr lang="en-US" dirty="0" err="1"/>
              <a:t>dt</a:t>
            </a:r>
            <a:r>
              <a:rPr lang="en-US" dirty="0"/>
              <a:t>, but </a:t>
            </a:r>
            <a:r>
              <a:rPr lang="en-US" u="sng" dirty="0"/>
              <a:t>no job control</a:t>
            </a:r>
            <a:r>
              <a:rPr lang="en-US" dirty="0"/>
              <a:t>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cat dospt-tur.sh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#!/bin/bash</a:t>
            </a:r>
          </a:p>
          <a:p>
            <a:pPr marL="0" indent="0">
              <a:spcBef>
                <a:spcPts val="30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disks=${disks:-""}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if [[ -z $disks ]];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disks=$(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lsscsi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fgrep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disk |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awk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'{print $NF}')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[[ -z ${disks} ]]; then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echo "Warning: No disks were found!"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exit 1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fi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fi</a:t>
            </a:r>
          </a:p>
          <a:p>
            <a:pPr marL="0" indent="0">
              <a:spcBef>
                <a:spcPts val="30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-f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spt-tur.spt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for disk in ${disks}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echo "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=${disk}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=0 status=good retry=100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msleep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=100 enable=wait </a:t>
            </a:r>
            <a:r>
              <a:rPr lang="en-US" sz="1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enable=</a:t>
            </a:r>
            <a:r>
              <a:rPr lang="en-US" sz="1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async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 &gt;&gt;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spt-tur.spt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echo "sleep=3s" &gt;&gt;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spt-tur.spt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script=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spt-tur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exit $?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./dospt-tur.sh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$?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013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Check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2704" y="1314450"/>
            <a:ext cx="9561095" cy="47434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Automatically Verify SCSI Status Information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Test Check Options: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resid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=value      The expected residual.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transfer=value   The expected transfer count.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status=value     The expected SCSI status.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skey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=value       The expected SCSI sense key.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asc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=value        The expected SCSI sense code.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asq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=value        The expected SCSI sense qualifier.</a:t>
            </a:r>
          </a:p>
          <a:p>
            <a:pPr marL="338138" lvl="1" indent="0">
              <a:buNone/>
            </a:pPr>
            <a:endParaRPr lang="en-US" sz="10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Note: The enable=wait option can be used to wait for status.</a:t>
            </a:r>
          </a:p>
          <a:p>
            <a:pPr marL="338138" lvl="1" indent="0">
              <a:buNone/>
            </a:pPr>
            <a:endParaRPr lang="en-US" sz="10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SCSI Status         Keyword      Value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-----------         -------      -----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GOOD                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good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0x00 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CHECK_CONDITION      cc          0x02 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CONDITION_MET       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cmet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0x04 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BUSY                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busy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0x08 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INTERMEDIATE         inter       0x10 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INTER_COND_MET      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icmet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0x14 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RESERVATION_CONFLICT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rescon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     0x18 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COMMAND_TERMINATED   term        0x22 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QUEUE_FULL          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qfull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0x28 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ACA_ACTIVE          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aca_active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 0x30 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    TASK_ABORTED         aborted     0x40 </a:t>
            </a:r>
          </a:p>
          <a:p>
            <a:pPr marL="338138" lvl="1" indent="0">
              <a:buNone/>
            </a:pPr>
            <a:endParaRPr lang="en-US" sz="10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Example:</a:t>
            </a:r>
          </a:p>
          <a:p>
            <a:pPr marL="338138" lvl="1" indent="0">
              <a:buNone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        # </a:t>
            </a:r>
            <a:r>
              <a:rPr lang="en-US" sz="1050" b="1" dirty="0" err="1">
                <a:latin typeface="Courier New" pitchFamily="49" charset="0"/>
                <a:cs typeface="Courier New" pitchFamily="49" charset="0"/>
              </a:rPr>
              <a:t>spt</a:t>
            </a:r>
            <a:r>
              <a:rPr lang="en-US" sz="105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050" b="1" dirty="0" err="1">
                <a:latin typeface="Courier New" pitchFamily="49" charset="0"/>
                <a:cs typeface="Courier New" pitchFamily="49" charset="0"/>
              </a:rPr>
              <a:t>cdb</a:t>
            </a:r>
            <a:r>
              <a:rPr lang="en-US" sz="1050" b="1" dirty="0">
                <a:latin typeface="Courier New" pitchFamily="49" charset="0"/>
                <a:cs typeface="Courier New" pitchFamily="49" charset="0"/>
              </a:rPr>
              <a:t>=0 status=good retry=100 </a:t>
            </a:r>
            <a:r>
              <a:rPr lang="en-US" sz="1050" b="1" dirty="0" err="1">
                <a:latin typeface="Courier New" pitchFamily="49" charset="0"/>
                <a:cs typeface="Courier New" pitchFamily="49" charset="0"/>
              </a:rPr>
              <a:t>msleep</a:t>
            </a:r>
            <a:r>
              <a:rPr lang="en-US" sz="1050" b="1" dirty="0">
                <a:latin typeface="Courier New" pitchFamily="49" charset="0"/>
                <a:cs typeface="Courier New" pitchFamily="49" charset="0"/>
              </a:rPr>
              <a:t>=100 enable=wait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66D8D-CF24-4F32-B52A-F923FF93BED1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225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Check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1892" y="1314450"/>
            <a:ext cx="9401908" cy="4586288"/>
          </a:xfr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lsscsi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--generic |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fgrep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sdl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[0:0:11:0]   disk    HGST     HUH721010AL4204  C322  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/sg11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/sg11 op=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lun_reset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/sg11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 status=cc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skey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=6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=0x29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asq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=0x3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/sg11 op=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lun_reset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;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/sg11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 status=good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Result for Test Unit Ready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Expected: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SCSI Status: 00h = SCSI_GOOD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Sense Key: 00h = NO SENSE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ascq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00h/00h = No additional sense information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Actual: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SCSI Status: 02h = SCSI_CHECK_CONDITION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Sense Key: 06h = UNIT ATTENTION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ascq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29h/03h = Bus device reset function occurred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ERROR: Error number 1 occurred on Tue Oct 10 10:24:11 2017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ERROR: Unexpected response for SCSI </a:t>
            </a:r>
            <a:r>
              <a:rPr lang="en-US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opcode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0x0 (Test Unit Ready)</a:t>
            </a:r>
          </a:p>
          <a:p>
            <a:pPr marL="0" indent="0">
              <a:spcBef>
                <a:spcPts val="300"/>
              </a:spcBef>
              <a:buNone/>
            </a:pP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$?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255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8469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4420" y="1314450"/>
            <a:ext cx="9669379" cy="4488473"/>
          </a:xfrm>
        </p:spPr>
        <p:txBody>
          <a:bodyPr>
            <a:normAutofit/>
          </a:bodyPr>
          <a:lstStyle/>
          <a:p>
            <a:r>
              <a:rPr lang="en-US" dirty="0"/>
              <a:t>Options to Automatically Verify Data Received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10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sz="1000" dirty="0"/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Expect Data Options: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exp_radix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any,dec,hex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 The default is any radix.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type:byte_index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:{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string|value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},...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Where type is: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C[HAR]          Character strings to expect.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B[YTE]          Byte (8 bit) values to expect.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S[SHORT]        Short (16 bit) values to expect.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W[ORD]          Word (32 bit) values to expect.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L[ONG]          Long (64 bit) values to expect.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Note: Byte index and values are taken as decimal (by default).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Example Inquiry Verify: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/sg42                                         \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='12 00 00 00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00'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=read length=255           \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expect=BYTE:0:0x0d,0x00,0x06,0x02,0x5b,0x00,0x40,0x02 \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expect=C:8:'HGST    ','STOR ENCL JBOD  '              \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expect=CHAR:32:'0116‘ disable=verbose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Please see Test Check Options for more test controls.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4212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 Error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6384" y="1314450"/>
            <a:ext cx="9507415" cy="458628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cs typeface="Courier New" panose="02070309020205020404" pitchFamily="49" charset="0"/>
              </a:rPr>
              <a:t>Changed “HGST” to “WDC “ to generate this error: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/sg42 				         \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inquiry expect=BYTE:0:0x0d,0x00,0x06,0x02,0x5b,0x00,0x40,0x02  \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expect=C:8:'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WDC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','STOR ENCL JBOD  ' expect=CHAR:32:'0116' \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disable=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decode,verbose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ERROR: Error number 1 occurred on Wed Oct 11 21:18:14 2017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Failure while verifying Inquiry data on device 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/sg42 (thread 1)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-&gt; Offset 000008:  Expected Data:  87 (0x57, 'W')  Received Data:  72 (0x48, 'H')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-&gt; Offset 000009:  Expected Data:  68 (0x44, 'D')  Received Data:  71 (0x47, 'G')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-&gt; Offset 000010:  Expected Data:  67 (0x43, 'C')  Received Data:  83 (0x53, 'S')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-&gt; Offset 000011:  Expected Data:  32 (0x20, ' ')  Received Data:  84 (0x54, 'T')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Data Bytes: 96, Expect Entries: 36, Correct Entries: 32,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Incorrect Entries: 4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s-E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$?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255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2433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SPT Script for SES Page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8404" y="1266092"/>
            <a:ext cx="9675395" cy="4634646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Script to verify MP SES Configuration Page 1.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$SPT_DEVICE=${SPT_DEVICE:?"Please define SPT_DEVICE for the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sgNN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device!}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enable=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scriptverify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exp_radix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=hex</a:t>
            </a:r>
          </a:p>
          <a:p>
            <a:pPr marL="0" indent="0">
              <a:spcBef>
                <a:spcPts val="0"/>
              </a:spcBef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$VENDOR=${VENDOR:-'WDC     '}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$PRODUCT=${PRODUCT:-'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InfiniFlash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P200'}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$REVISION=${REVISION:-'0001'}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SES Configuration Page 1: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rcvdiag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page=configuration disable=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decode,verbose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transfer=248 \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00000 (0x0000)  01 00 00 f4 00 00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                            Page Code: 0x1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       Number of Secondary Enclosures: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                          Page Length: 244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                    Generation Number: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expect=BYTE:0:01,00,00,f4,00,00,00,00 \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00008 (0x0008)  11 00 0a 24 50 00 cc ab 05 01 01 80 57 44 43 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00024 (0x0018)  20 20 20 20 49 6e 66 69 6e 69 46 6c 61 73 68 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00040 (0x0028)  50 32 30 30 30 30 30 31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             Enclosure Descriptor List: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   Number Enclosure Services Processes: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Relative Enclosure Services Process ID: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Subenclosure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Identifier: 0 (Primary)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     Number of Type Descriptor Headers: 10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           Enclosure Descriptor Length: 36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          Enclosure Logical Identifier: 0x5000ccab05010180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                 Vendor Identification: WDC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                Product Identification: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InfiniFlash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P200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                  Product Revision Level: 0001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#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expect=BYTE:8:11,00,0a,24,50,00,cc,ab,05,01,01,80 \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expect=CHAR:14:"${VENDOR}","${PRODUCT}","${REVISION}" \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032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Unpack SCSI Data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7040" y="1314450"/>
            <a:ext cx="9636760" cy="4586288"/>
          </a:xfrm>
        </p:spPr>
        <p:txBody>
          <a:bodyPr>
            <a:normAutofit/>
          </a:bodyPr>
          <a:lstStyle/>
          <a:p>
            <a:r>
              <a:rPr lang="en-US" dirty="0"/>
              <a:t>A Format String to Unpack Various Data Received: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Unpack Data Options: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unpack=string         The unpack format string.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unpack_fmt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dec,hex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  The unpack data format. (Default: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dec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Where unpack format string is: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C[HAR]:[index]:length       Character of length.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F[IELD]:[index]:[start]:length Extract bit field.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O[FFSET]:index              Set the buffer offset.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B[YTE][:index]              Decode byte (8 bit) value.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S[HORT][:index]             Decode short (16 bit) value.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W[ORD][:index]              Decode word (32 bit) values.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L[ONG][:index]              Decode long (64 bit) values.</a:t>
            </a:r>
          </a:p>
          <a:p>
            <a:pPr marL="0" indent="0">
              <a:spcBef>
                <a:spcPts val="30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Inquiry Unpack Examples: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sdb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inquiry disable=decode \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unpack='Device Type: %BYTE, Vendor: %CHAR:8:8, Product: %C::16, Revision: %C::4\n'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OR Create your own JSON: (multiple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unpack's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permitted)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sdb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inquiry disable=decode \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unpack='{ "Device Type": %BYTE, "Vendor": "%C:8:8",' \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unpack=' "Product": "%C::16", "Revision": "%C::4" }\n'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4427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Emit Status Control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226" y="1257299"/>
            <a:ext cx="9362574" cy="4774223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SPT does NOT display statistics automatically.</a:t>
            </a:r>
          </a:p>
          <a:p>
            <a:r>
              <a:rPr lang="en-US" sz="2600" dirty="0"/>
              <a:t>Roll-Your-Own Status/Statistics via: (or use </a:t>
            </a:r>
            <a:r>
              <a:rPr lang="en-US" sz="2600" b="1" dirty="0"/>
              <a:t>emit=default</a:t>
            </a:r>
            <a:r>
              <a:rPr lang="en-US" sz="2600" dirty="0"/>
              <a:t>)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# export SPT_EMIT_STATUS="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Thread: %thread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Device Name: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dsf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SCSI Name: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scsi_name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SCSI CDB: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cdb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Iterations: %iterations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Exit Status: %status =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status_msg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Host Status: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host_status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host_msg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Driver Status: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driver_status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driver_msg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SCSI Status: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scsi_status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scsi_msg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Sense Code: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sense_code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sense_msg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Sense Key: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sense_key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=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skey_msg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asc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asq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: (%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asc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asq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 =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ascq_msg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Transferred: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xfer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(data bytes transferred)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Residual: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resid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(bytes not transferred)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Total Blocks: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total_blocks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Total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Xferred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: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total_xfer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bytes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Sense Data: %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sense_data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\n“</a:t>
            </a:r>
          </a:p>
          <a:p>
            <a:r>
              <a:rPr lang="en-US" sz="2400" dirty="0">
                <a:cs typeface="Courier New" pitchFamily="49" charset="0"/>
              </a:rPr>
              <a:t>See “</a:t>
            </a:r>
            <a:r>
              <a:rPr lang="en-US" sz="2400" dirty="0" err="1">
                <a:cs typeface="Courier New" pitchFamily="49" charset="0"/>
              </a:rPr>
              <a:t>spt</a:t>
            </a:r>
            <a:r>
              <a:rPr lang="en-US" sz="2400" dirty="0">
                <a:cs typeface="Courier New" pitchFamily="49" charset="0"/>
              </a:rPr>
              <a:t> help” for full list of Emit Status Control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66D8D-CF24-4F32-B52A-F923FF93BED1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7820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Emit Status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8288" y="1314450"/>
            <a:ext cx="9365512" cy="458628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sdl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=0x8e starting=0 </a:t>
            </a:r>
            <a:r>
              <a:rPr lang="en-US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bs</a:t>
            </a:r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=64k limit=1g emit=default	(Note: Writes all zero’s, by default)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     Thread: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Device Name: 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sdl</a:t>
            </a:r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Device Info: Block Length=4096, Capacity=2441609216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Block Range: 0 - 262144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  SCSI Name: </a:t>
            </a:r>
            <a:r>
              <a:rPr lang="en-US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 and Verify(16)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   SCSI CDB: 8e 00 00 00 00 00 00 03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80 00 00 00 80 00 00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Data Direction: write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Data Length: 524288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Exit Status: 0 = SUCCESS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Host Status: 0 = DID_OK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Driver Status: 0 = DRIVER_OK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SCSI Status: 0 = SCSI_GOOD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 Sense Code: 0 = NO CODE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  Sense Key: 0 = NO SENSE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    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asq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: (00, 00) = No additional sense information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Bytes Transferred: 524288 (data bytes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   Residual: 0 (bytes not transferred)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 Iterations: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Total Bytes: 1073741824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Total Blocks: 262144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Total Operations: 2049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 Sense Data: 00 00 00 00 00 00 00 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Elapsed Time: 00m38.53s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Starting Time: Thu Oct 12 12:32:00 2017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                  Ending Time: Thu Oct 12 12:32:39 2017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(j:1 t:1):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6717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Triage/Recovery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6926" y="1314450"/>
            <a:ext cx="9476874" cy="4586288"/>
          </a:xfrm>
        </p:spPr>
        <p:txBody>
          <a:bodyPr/>
          <a:lstStyle/>
          <a:p>
            <a:r>
              <a:rPr lang="en-US" dirty="0"/>
              <a:t>Display of Full Sense Data via </a:t>
            </a:r>
            <a:r>
              <a:rPr lang="en-US" b="1" dirty="0"/>
              <a:t>enable=sense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xcopy</a:t>
            </a:r>
            <a:r>
              <a:rPr lang="en-US" dirty="0"/>
              <a:t>, both copies of sense data displayed</a:t>
            </a:r>
          </a:p>
          <a:p>
            <a:r>
              <a:rPr lang="en-US" dirty="0"/>
              <a:t>Automatic Recovery via </a:t>
            </a:r>
            <a:r>
              <a:rPr lang="en-US" b="1" dirty="0"/>
              <a:t>enable=recovery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Error Conditions Retried:</a:t>
            </a:r>
          </a:p>
          <a:p>
            <a:pPr lvl="2"/>
            <a:r>
              <a:rPr lang="en-US" dirty="0"/>
              <a:t>Unit Attention, SCSI Busy, and Queue Full</a:t>
            </a:r>
          </a:p>
          <a:p>
            <a:pPr lvl="2"/>
            <a:r>
              <a:rPr lang="en-US" dirty="0"/>
              <a:t>Not Ready, in the process of becoming ready</a:t>
            </a:r>
          </a:p>
          <a:p>
            <a:pPr lvl="2"/>
            <a:r>
              <a:rPr lang="en-US" dirty="0"/>
              <a:t>Linux specific MPIO workaround</a:t>
            </a:r>
          </a:p>
          <a:p>
            <a:pPr lvl="3"/>
            <a:r>
              <a:rPr lang="en-US" dirty="0"/>
              <a:t>a read request is required to force path failover!</a:t>
            </a:r>
          </a:p>
          <a:p>
            <a:r>
              <a:rPr lang="en-US" dirty="0"/>
              <a:t> Error Recovery Options:</a:t>
            </a:r>
          </a:p>
          <a:p>
            <a:pPr lvl="1"/>
            <a:r>
              <a:rPr lang="en-US" sz="1400" dirty="0" err="1"/>
              <a:t>recovery_delay</a:t>
            </a:r>
            <a:r>
              <a:rPr lang="en-US" sz="1400" dirty="0"/>
              <a:t>=value  - The amount of time to delay before retrying. (</a:t>
            </a:r>
            <a:r>
              <a:rPr lang="en-US" sz="1400" b="1" dirty="0"/>
              <a:t>Default: 2 </a:t>
            </a:r>
            <a:r>
              <a:rPr lang="en-US" sz="1400" b="1" dirty="0" err="1"/>
              <a:t>secs</a:t>
            </a:r>
            <a:r>
              <a:rPr lang="en-US" sz="1400" dirty="0"/>
              <a:t>)</a:t>
            </a:r>
          </a:p>
          <a:p>
            <a:pPr lvl="1"/>
            <a:r>
              <a:rPr lang="en-US" sz="1400" dirty="0" err="1"/>
              <a:t>recovery_retries</a:t>
            </a:r>
            <a:r>
              <a:rPr lang="en-US" sz="1400" dirty="0"/>
              <a:t>=value - The number of times to retry a SCSI request. (</a:t>
            </a:r>
            <a:r>
              <a:rPr lang="en-US" sz="1400" b="1" dirty="0"/>
              <a:t>Default: 60</a:t>
            </a:r>
            <a:r>
              <a:rPr lang="en-US" sz="14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66D8D-CF24-4F32-B52A-F923FF93BED1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60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4579" y="104775"/>
            <a:ext cx="8790071" cy="1038225"/>
          </a:xfrm>
        </p:spPr>
        <p:txBody>
          <a:bodyPr/>
          <a:lstStyle/>
          <a:p>
            <a:r>
              <a:rPr lang="en-US" dirty="0"/>
              <a:t>Support for I/O Ranges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1063869"/>
            <a:ext cx="7924800" cy="529248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I/O Ranges Automatically:</a:t>
            </a:r>
          </a:p>
          <a:p>
            <a:pPr lvl="1"/>
            <a:r>
              <a:rPr lang="en-US" dirty="0"/>
              <a:t>Sets the I/O direction</a:t>
            </a:r>
          </a:p>
          <a:p>
            <a:pPr lvl="1"/>
            <a:r>
              <a:rPr lang="en-US" dirty="0"/>
              <a:t>Adds enable=</a:t>
            </a:r>
            <a:r>
              <a:rPr lang="en-US" dirty="0" err="1"/>
              <a:t>encode,decode</a:t>
            </a:r>
            <a:r>
              <a:rPr lang="en-US" dirty="0"/>
              <a:t> (as required)</a:t>
            </a:r>
          </a:p>
          <a:p>
            <a:pPr lvl="1"/>
            <a:r>
              <a:rPr lang="en-US" dirty="0"/>
              <a:t>Automatically fills in the CDB fields</a:t>
            </a:r>
          </a:p>
          <a:p>
            <a:pPr lvl="1"/>
            <a:r>
              <a:rPr lang="en-US" dirty="0"/>
              <a:t>Optionally compares data read</a:t>
            </a:r>
          </a:p>
          <a:p>
            <a:r>
              <a:rPr lang="en-US" dirty="0"/>
              <a:t>Support for I/O ranges for these CDB’s</a:t>
            </a:r>
          </a:p>
          <a:p>
            <a:pPr lvl="1"/>
            <a:r>
              <a:rPr lang="en-US" dirty="0"/>
              <a:t>Read/Write (6, 10, and 16 byte)</a:t>
            </a:r>
          </a:p>
          <a:p>
            <a:pPr lvl="1"/>
            <a:r>
              <a:rPr lang="en-US" dirty="0"/>
              <a:t>Verify and Write Same (10 and 16 byte)</a:t>
            </a:r>
          </a:p>
          <a:p>
            <a:pPr lvl="1"/>
            <a:r>
              <a:rPr lang="en-US" dirty="0" err="1"/>
              <a:t>Unmap</a:t>
            </a:r>
            <a:r>
              <a:rPr lang="en-US" dirty="0"/>
              <a:t> (frees blocks)</a:t>
            </a:r>
          </a:p>
          <a:p>
            <a:r>
              <a:rPr lang="en-US" dirty="0"/>
              <a:t>Examples: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export SPT_DEVICE=/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dev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sdl</a:t>
            </a:r>
            <a:endParaRPr lang="en-US" sz="1200" b="1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SCSI_OPCODE_READ_16=0x88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SCSI_OPCODE_WRITE_16=0x8a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SCSI_OPCODE_WRITE_SAME_16=0x93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spt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cdb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=${SCSI_OPCODE_WRITE_16}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bs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=32k starting=0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ptype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iot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enable=sense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itchFamily="49" charset="0"/>
              </a:rPr>
              <a:t>#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spt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cdb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=${SCSI_OPCODE_READ_16}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bs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=32k starting=0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ptype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iot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enable=compare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spt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cdb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=${SCSI_OPCODE_WRITE_SAME_16} starting=0 blocks=16k enable=sense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66D8D-CF24-4F32-B52A-F923FF93BED1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2159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for I/O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0436" y="1314450"/>
            <a:ext cx="9663363" cy="4586288"/>
          </a:xfrm>
        </p:spPr>
        <p:txBody>
          <a:bodyPr/>
          <a:lstStyle/>
          <a:p>
            <a:r>
              <a:rPr lang="en-US" dirty="0"/>
              <a:t>Similar to DT’s I/O Modes</a:t>
            </a:r>
          </a:p>
          <a:p>
            <a:r>
              <a:rPr lang="en-US" dirty="0"/>
              <a:t>I/O Mode Support:</a:t>
            </a:r>
          </a:p>
          <a:p>
            <a:pPr lvl="1"/>
            <a:r>
              <a:rPr lang="en-US" sz="2000" dirty="0" err="1"/>
              <a:t>iomode</a:t>
            </a:r>
            <a:r>
              <a:rPr lang="en-US" sz="2000" dirty="0"/>
              <a:t>=mode - Set I/O mode to: {copy, mirror, </a:t>
            </a:r>
            <a:r>
              <a:rPr lang="en-US" sz="2000" b="1" dirty="0"/>
              <a:t>test</a:t>
            </a:r>
            <a:r>
              <a:rPr lang="en-US" sz="2000" dirty="0"/>
              <a:t>, or verify}</a:t>
            </a:r>
          </a:p>
          <a:p>
            <a:pPr lvl="1"/>
            <a:r>
              <a:rPr lang="en-US" sz="2000" dirty="0"/>
              <a:t>copy/verify added for copying and verifying LUNs</a:t>
            </a:r>
          </a:p>
          <a:p>
            <a:pPr lvl="1"/>
            <a:r>
              <a:rPr lang="en-US" sz="2000" dirty="0"/>
              <a:t>mirror mode added to verify synchronous mirrors</a:t>
            </a:r>
          </a:p>
          <a:p>
            <a:pPr lvl="2"/>
            <a:r>
              <a:rPr lang="en-US" sz="1800" dirty="0"/>
              <a:t>writing to one LUN should be mirrored to another LUN</a:t>
            </a:r>
          </a:p>
          <a:p>
            <a:r>
              <a:rPr lang="en-US" dirty="0"/>
              <a:t>Examples:</a:t>
            </a:r>
          </a:p>
          <a:p>
            <a:pPr marL="338138" lvl="1" indent="0"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spt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dsf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=${SRC_DEVICE} dsf1=${DST_DEVICE} length=32k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iomode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=copy enable=compare</a:t>
            </a:r>
          </a:p>
          <a:p>
            <a:pPr marL="338138" lvl="1" indent="0"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spt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dsf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=${SRC_DEVICE} dsf1=${DST_DEVICE} length=32k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iomode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=verify</a:t>
            </a:r>
          </a:p>
          <a:p>
            <a:pPr marL="338138" lvl="1" indent="0"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spt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dsf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=${DST_DEVICE} dsf1=${DST_DEVICE} length=32k \</a:t>
            </a:r>
          </a:p>
          <a:p>
            <a:pPr marL="338138" lvl="1" indent="0"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                 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writetype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=writev16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iomode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=mirror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ptype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iot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slices=10</a:t>
            </a:r>
          </a:p>
          <a:p>
            <a:pPr marL="0" indent="0">
              <a:buNone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66D8D-CF24-4F32-B52A-F923FF93BED1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6118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426" y="365125"/>
            <a:ext cx="10048374" cy="815975"/>
          </a:xfrm>
        </p:spPr>
        <p:txBody>
          <a:bodyPr/>
          <a:lstStyle/>
          <a:p>
            <a:r>
              <a:rPr lang="en-US" dirty="0"/>
              <a:t>Support for Multiple Slices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6869" y="2133600"/>
            <a:ext cx="8232531" cy="4343400"/>
          </a:xfrm>
        </p:spPr>
        <p:txBody>
          <a:bodyPr>
            <a:normAutofit/>
          </a:bodyPr>
          <a:lstStyle/>
          <a:p>
            <a:r>
              <a:rPr lang="en-US" dirty="0"/>
              <a:t>Slices Create Multiple I/O Ranges</a:t>
            </a:r>
          </a:p>
          <a:p>
            <a:r>
              <a:rPr lang="en-US" dirty="0"/>
              <a:t>Each Slice is a Thread with its’ Own Range:</a:t>
            </a:r>
          </a:p>
          <a:p>
            <a:pPr marL="338138" lvl="1" indent="0"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SCSI_VERIFY_16=0x8f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338138" lvl="1" indent="0"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spt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cdb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=${SCSI_VERIFY_16} starting=0 slices=3 limit=1g \</a:t>
            </a:r>
          </a:p>
          <a:p>
            <a:pPr marL="338138" lvl="1" indent="0">
              <a:buNone/>
            </a:pP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     enable=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Debug,sense,recovery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logprefix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</a:t>
            </a:r>
          </a:p>
          <a:p>
            <a:pPr marL="338138" lvl="1" indent="0">
              <a:buNone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Device: /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dev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sdl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, Device Size: 4096 bytes, Capacity: 2441609216 blocks (thread 0)</a:t>
            </a:r>
          </a:p>
          <a:p>
            <a:pPr marL="338138" lvl="1" indent="0">
              <a:buNone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Device: /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dev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sdl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, Starting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lba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=0, ending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lba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=262143, block limit=262144 (thread 0)</a:t>
            </a:r>
          </a:p>
          <a:p>
            <a:pPr marL="338138" lvl="1" indent="0">
              <a:buNone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Device: /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dev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sdl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, Starting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lba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=0, ending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lba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=87380, block limit=87381 (thread 1)</a:t>
            </a:r>
          </a:p>
          <a:p>
            <a:pPr marL="338138" lvl="1" indent="0">
              <a:buNone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Device: /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dev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sdl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, Starting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lba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=87381, ending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lba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=174761, block limit=87381 (thread 2)</a:t>
            </a:r>
          </a:p>
          <a:p>
            <a:pPr marL="338138" lvl="1" indent="0">
              <a:buNone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Device: /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dev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sdl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, Starting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lba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=174762, ending </a:t>
            </a:r>
            <a:r>
              <a:rPr lang="en-US" sz="1050" dirty="0" err="1">
                <a:latin typeface="Courier New" pitchFamily="49" charset="0"/>
                <a:cs typeface="Courier New" pitchFamily="49" charset="0"/>
              </a:rPr>
              <a:t>lba</a:t>
            </a:r>
            <a:r>
              <a:rPr lang="en-US" sz="1050" dirty="0">
                <a:latin typeface="Courier New" pitchFamily="49" charset="0"/>
                <a:cs typeface="Courier New" pitchFamily="49" charset="0"/>
              </a:rPr>
              <a:t>=262143, block limit=87382 (thread 3)</a:t>
            </a:r>
          </a:p>
          <a:p>
            <a:pPr marL="338138" lvl="1" indent="0">
              <a:buNone/>
            </a:pPr>
            <a:r>
              <a:rPr lang="en-US" sz="1050" dirty="0">
                <a:latin typeface="Courier New" pitchFamily="49" charset="0"/>
                <a:cs typeface="Courier New" pitchFamily="49" charset="0"/>
              </a:rPr>
              <a:t># </a:t>
            </a:r>
          </a:p>
          <a:p>
            <a:r>
              <a:rPr lang="en-US" dirty="0">
                <a:cs typeface="Times New Roman" pitchFamily="18" charset="0"/>
              </a:rPr>
              <a:t>Create lots of Slices to Generate Higher Load!</a:t>
            </a:r>
          </a:p>
          <a:p>
            <a:pPr marL="338138" lvl="1" indent="0">
              <a:buNone/>
            </a:pP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66D8D-CF24-4F32-B52A-F923FF93BED1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315195"/>
            <a:ext cx="533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2163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for Disruptive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314450"/>
            <a:ext cx="9525000" cy="45862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Several popular methods include:</a:t>
            </a:r>
          </a:p>
          <a:p>
            <a:pPr lvl="1"/>
            <a:r>
              <a:rPr lang="en-US" dirty="0"/>
              <a:t>Setting incorrect CDB fields.</a:t>
            </a:r>
          </a:p>
          <a:p>
            <a:pPr lvl="1"/>
            <a:r>
              <a:rPr lang="en-US" dirty="0"/>
              <a:t>Sending unsupported CDB </a:t>
            </a:r>
            <a:r>
              <a:rPr lang="en-US" dirty="0" err="1"/>
              <a:t>opcodes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Sending incorrect I/O direction or length.</a:t>
            </a:r>
          </a:p>
          <a:p>
            <a:pPr lvl="1"/>
            <a:r>
              <a:rPr lang="en-US" dirty="0"/>
              <a:t>Sending high I/O to test Queue Full conditions.</a:t>
            </a:r>
          </a:p>
          <a:p>
            <a:pPr lvl="1"/>
            <a:r>
              <a:rPr lang="en-US" dirty="0"/>
              <a:t>Setting short timeouts to verify abort sequences.</a:t>
            </a:r>
          </a:p>
          <a:p>
            <a:pPr lvl="2"/>
            <a:r>
              <a:rPr lang="en-US" dirty="0"/>
              <a:t>On Linux, must use /</a:t>
            </a:r>
            <a:r>
              <a:rPr lang="en-US" dirty="0" err="1"/>
              <a:t>dev</a:t>
            </a:r>
            <a:r>
              <a:rPr lang="en-US" dirty="0"/>
              <a:t>/</a:t>
            </a:r>
            <a:r>
              <a:rPr lang="en-US" dirty="0" err="1"/>
              <a:t>sgXX</a:t>
            </a:r>
            <a:r>
              <a:rPr lang="en-US" dirty="0"/>
              <a:t> for short timeouts</a:t>
            </a:r>
          </a:p>
          <a:p>
            <a:pPr lvl="2"/>
            <a:r>
              <a:rPr lang="en-US" dirty="0"/>
              <a:t>Requests via /</a:t>
            </a:r>
            <a:r>
              <a:rPr lang="en-US" dirty="0" err="1"/>
              <a:t>dev</a:t>
            </a:r>
            <a:r>
              <a:rPr lang="en-US" dirty="0"/>
              <a:t>/</a:t>
            </a:r>
            <a:r>
              <a:rPr lang="en-US" dirty="0" err="1"/>
              <a:t>sdXX</a:t>
            </a:r>
            <a:r>
              <a:rPr lang="en-US" dirty="0"/>
              <a:t> (block device) enforce a minimum timeout:</a:t>
            </a:r>
          </a:p>
          <a:p>
            <a:pPr lvl="3"/>
            <a:r>
              <a:rPr lang="en-US" dirty="0" err="1"/>
              <a:t>linux</a:t>
            </a:r>
            <a:r>
              <a:rPr lang="en-US" dirty="0"/>
              <a:t>/</a:t>
            </a:r>
            <a:r>
              <a:rPr lang="en-US" dirty="0" err="1"/>
              <a:t>blkdev.h</a:t>
            </a:r>
            <a:r>
              <a:rPr lang="en-US" dirty="0"/>
              <a:t>: #define </a:t>
            </a:r>
            <a:r>
              <a:rPr lang="en-US" b="1" dirty="0"/>
              <a:t>BLK_MIN_SG_TIMEOUT (7 * HZ) </a:t>
            </a:r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7 seconds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Sending Task Management Functions (TMF):</a:t>
            </a:r>
          </a:p>
          <a:p>
            <a:pPr lvl="2"/>
            <a:r>
              <a:rPr lang="en-US" dirty="0"/>
              <a:t>Bus Reset (may be simulated based on protocol)</a:t>
            </a:r>
          </a:p>
          <a:p>
            <a:pPr lvl="2"/>
            <a:r>
              <a:rPr lang="en-US" dirty="0"/>
              <a:t>LUN Reset</a:t>
            </a:r>
          </a:p>
          <a:p>
            <a:pPr lvl="2"/>
            <a:r>
              <a:rPr lang="en-US" dirty="0"/>
              <a:t>Target Reset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1590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Forcing Command Timeouts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9185" y="1314450"/>
            <a:ext cx="9964615" cy="458628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lsscsi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-g |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fgrep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sdl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[0:0:11:0]   disk    HGST     HUH721010AL4204  C322  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/sg11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dsf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/sg11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cdb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=${SCSI_VERIFY_16} starting=0 blocks=0xffff limit=1g timeout=1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logprefix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ERROR: Error number 1 occurred on Wed Oct 11 16:21:14 2017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Verify(16) failed on device 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/sg11 (thread 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SCSI CDB: 8f 00 00 00 00 00 00 00 00 00 00 00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00 00,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=none, length=0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SCSI Status = 0 (SCSI_GOOD)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 Status = 0x3 (DID_TIME_OUT),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Driver Status = 0 (DRIVER_OK)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Sense Key = 0 = NO SENSE, Sense Code/Qualifier = (0, 0) - No additional sense information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dmesg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ctime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| tail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[Wed Oct 11 16:17:32 2017]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0:0:11:0: </a:t>
            </a: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attempting task abort!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scmd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(ffff881030c3b380)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[Wed Oct 11 16:17:32 2017]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0:0:11:0: [sg11] tag#0 CDB: Verify(16) 8f 00 00 00 00 00 00 00 00 00 00 00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00 00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[Wed Oct 11 16:17:32 2017]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scsi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target0:0:11: handle(0x0015),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sas_address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(0x5000cca2510285c9),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(11)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[Wed Oct 11 16:17:32 2017]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scsi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target0:0:11: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enclosure_logical_id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(0x5001636001caa0bd), slot(11)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[Wed Oct 11 16:17:32 2017]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scsi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target0:0:11: enclosure level(0x0000),connector name(    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[Wed Oct 11 16:17:32 2017]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0:0:11:0: task abort: SUCCESS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scmd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(ffff881030c3b380)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1A788-09C1-4862-851B-ECA0FC28575E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4619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SCSI CDB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2704" y="1314450"/>
            <a:ext cx="9561095" cy="4586288"/>
          </a:xfrm>
        </p:spPr>
        <p:txBody>
          <a:bodyPr>
            <a:normAutofit/>
          </a:bodyPr>
          <a:lstStyle/>
          <a:p>
            <a:r>
              <a:rPr lang="en-US" dirty="0"/>
              <a:t>SCSI CDB’s Extended by encode/decode</a:t>
            </a:r>
          </a:p>
          <a:p>
            <a:r>
              <a:rPr lang="en-US" dirty="0"/>
              <a:t>I/O Options Enable this Automatically</a:t>
            </a:r>
          </a:p>
          <a:p>
            <a:pPr>
              <a:spcBef>
                <a:spcPts val="600"/>
              </a:spcBef>
            </a:pPr>
            <a:r>
              <a:rPr lang="en-US" dirty="0"/>
              <a:t>Read Capacity(16) Example:</a:t>
            </a:r>
          </a:p>
          <a:p>
            <a:pPr marL="338138" lvl="1" indent="0">
              <a:spcBef>
                <a:spcPts val="6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spt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cdb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='9e 10' 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dir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=read length=32 enable=</a:t>
            </a:r>
            <a:r>
              <a:rPr lang="en-US" sz="1200" b="1" dirty="0" err="1">
                <a:latin typeface="Courier New" pitchFamily="49" charset="0"/>
                <a:cs typeface="Courier New" pitchFamily="49" charset="0"/>
              </a:rPr>
              <a:t>encode,decode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 disable=verbose</a:t>
            </a:r>
          </a:p>
          <a:p>
            <a:pPr marL="338138" lvl="1" indent="0">
              <a:spcBef>
                <a:spcPts val="300"/>
              </a:spcBef>
              <a:buNone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Read Capacity(16) Data: (data length 32 bytes)</a:t>
            </a:r>
          </a:p>
          <a:p>
            <a:pPr marL="338138" lvl="1" indent="0">
              <a:spcBef>
                <a:spcPts val="300"/>
              </a:spcBef>
              <a:buNone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       Maximum Capacity: 204800 (100.000 megabytes)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           Block Length: 512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     Protection Enabled: No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        Protection Type: 0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Logical Blocks per Physical Exponent: 3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Protection Information Exponent: 0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Thin Provisioning Enabled (LBPME): Yes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Thin Provisioning Read Zeroes (LBPRZ): Yes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Lowest Aligned Logical Block Address: 0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66D8D-CF24-4F32-B52A-F923FF93BED1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166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SCSI CDB Support (continued…)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4816" y="1314450"/>
            <a:ext cx="9518984" cy="4586288"/>
          </a:xfrm>
        </p:spPr>
        <p:txBody>
          <a:bodyPr>
            <a:normAutofit fontScale="70000" lnSpcReduction="20000"/>
          </a:bodyPr>
          <a:lstStyle/>
          <a:p>
            <a:r>
              <a:rPr lang="en-US" sz="3000" dirty="0"/>
              <a:t>SCSI Inquiry Low Level Equivalence:</a:t>
            </a:r>
          </a:p>
          <a:p>
            <a:pPr lvl="1"/>
            <a:r>
              <a:rPr lang="en-US" sz="2300" dirty="0"/>
              <a:t>inquiry = ‘</a:t>
            </a:r>
            <a:r>
              <a:rPr lang="en-US" sz="2300" dirty="0" err="1"/>
              <a:t>cdb</a:t>
            </a:r>
            <a:r>
              <a:rPr lang="en-US" sz="2300" dirty="0"/>
              <a:t>='12 00 00 00 </a:t>
            </a:r>
            <a:r>
              <a:rPr lang="en-US" sz="2300" dirty="0" err="1"/>
              <a:t>ff</a:t>
            </a:r>
            <a:r>
              <a:rPr lang="en-US" sz="2300" dirty="0"/>
              <a:t> 00' </a:t>
            </a:r>
            <a:r>
              <a:rPr lang="en-US" sz="2300" dirty="0" err="1"/>
              <a:t>dir</a:t>
            </a:r>
            <a:r>
              <a:rPr lang="en-US" sz="2300" dirty="0"/>
              <a:t>=read length=255 enable=</a:t>
            </a:r>
            <a:r>
              <a:rPr lang="en-US" sz="2300" dirty="0" err="1"/>
              <a:t>encode,decode</a:t>
            </a:r>
            <a:r>
              <a:rPr lang="en-US" sz="2300" dirty="0"/>
              <a:t> disable=verbose</a:t>
            </a:r>
          </a:p>
          <a:p>
            <a:pPr marL="338138" lvl="1" indent="0">
              <a:buNone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#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spt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inquiry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logprefix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=</a:t>
            </a:r>
          </a:p>
          <a:p>
            <a:pPr marL="338138" lvl="1" indent="0">
              <a:spcBef>
                <a:spcPts val="6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Inquiry Information:</a:t>
            </a:r>
          </a:p>
          <a:p>
            <a:pPr marL="338138" lvl="1" indent="0">
              <a:spcBef>
                <a:spcPts val="300"/>
              </a:spcBef>
              <a:buNone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 Peripheral Device Type: 0xd (Enclosure Services Device)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   Peripheral Qualifier: 0 (Peripheral Device Connected)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Logical Unit Conglomerate: False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        Removable Media: False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           ANSI Version: 6 (Complies to ANSI INCITS 513 Revision 37a)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   Response Data Format: 2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     Historical Support: False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     Normal ACA Support: False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      Additional Length: 91 (0x5b)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Supports Protection Information: False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Third Party Copy Support: False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Target Port Group Support: 0 (ALUA not supported)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Storage Controller Components: False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    Multiple SCSI Ports: False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Embedded Enclosure Services: True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Command Queuing Support: True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  Vendor Identification: HGST    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 Product Identification: STOR ENCL JBOD  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 Firmware Revision Level: EL14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Detailed Firmware Revision: -004 04.08.01       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Version Descriptor SAM-5: 0xa0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Version Descriptor SAS-2: 0xc20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Version Descriptor SPC-4: 0x460</a:t>
            </a: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              Version Descriptor SES-3: 0x580</a:t>
            </a:r>
          </a:p>
          <a:p>
            <a:pPr marL="338138" lvl="1" indent="0">
              <a:spcBef>
                <a:spcPts val="300"/>
              </a:spcBef>
              <a:buNone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spcBef>
                <a:spcPts val="300"/>
              </a:spcBef>
              <a:buNone/>
            </a:pPr>
            <a:r>
              <a:rPr lang="en-US" sz="1200" dirty="0">
                <a:latin typeface="Courier New" pitchFamily="49" charset="0"/>
                <a:cs typeface="Courier New" pitchFamily="49" charset="0"/>
              </a:rPr>
              <a:t>#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66D8D-CF24-4F32-B52A-F923FF93BED1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1690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Enhanced Script File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1314450"/>
            <a:ext cx="9639300" cy="45862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SPT Supports Script Files (5 levels deep)</a:t>
            </a:r>
          </a:p>
          <a:p>
            <a:r>
              <a:rPr lang="en-US" dirty="0"/>
              <a:t>Environment Variables Now Expanded or Set: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# Enabling Debug shows us each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spt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command being executed.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enable=Debug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$SCSI_OPCODE_READ_16=0x88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$SCSI_OPCODE_WRITE_16=0x8a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$SCSI_OPCODE_WRITE_AND_VERIFY_16=0x8e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$SCSI_OPCODE_WRITE_SAME_16=0x93</a:t>
            </a:r>
          </a:p>
          <a:p>
            <a:pPr marL="338138" lvl="1" indent="0">
              <a:buNone/>
            </a:pPr>
            <a:endParaRPr lang="en-US" sz="10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$SLICES=3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$IO_LENGTH=64k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$ENABLE_OPTIONS="enable=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Debug,sense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"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$READ_OPTIONS="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cdb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=${SCSI_OPCODE_READ_16}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dir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=read length=${IO_LENGTH} ${ENABLE_OPTIONS}"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$WRITE_OPTIONS="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cdb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=${SCSI_OPCODE_WRITE_16}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dir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=write length=${IO_LENGTH} ${ENABLE_OPTIONS}"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$WRITE_SAME_OPTIONS="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cdb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=${SCSI_OPCODE_WRITE_SAME_16} starting=0 blocks=0xffff ${ENABLE_OPTIONS}"</a:t>
            </a:r>
          </a:p>
          <a:p>
            <a:pPr marL="338138" lvl="1" indent="0">
              <a:buNone/>
            </a:pPr>
            <a:endParaRPr lang="en-US" sz="10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# Initialize the source LUN with the IOT pattern.</a:t>
            </a:r>
          </a:p>
          <a:p>
            <a:pPr marL="338138" lvl="1" indent="0">
              <a:buNone/>
            </a:pP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dsf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=${SRC_DEVICE} ${WRITE_OPTIONS} starting=0 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ptype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iot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 slices=${SLICES}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# Zero the destination LUN using Write Same.</a:t>
            </a:r>
          </a:p>
          <a:p>
            <a:pPr marL="338138" lvl="1" indent="0">
              <a:buNone/>
            </a:pPr>
            <a:r>
              <a:rPr lang="en-US" sz="1000" dirty="0" err="1">
                <a:latin typeface="Courier New" pitchFamily="49" charset="0"/>
                <a:cs typeface="Courier New" pitchFamily="49" charset="0"/>
              </a:rPr>
              <a:t>dsf</a:t>
            </a:r>
            <a:r>
              <a:rPr lang="en-US" sz="1000" dirty="0">
                <a:latin typeface="Courier New" pitchFamily="49" charset="0"/>
                <a:cs typeface="Courier New" pitchFamily="49" charset="0"/>
              </a:rPr>
              <a:t>=${DST_DEVICE} ${WRITE_SAME_OPTIONS}</a:t>
            </a:r>
          </a:p>
          <a:p>
            <a:pPr marL="338138" lvl="1" indent="0">
              <a:buNone/>
            </a:pPr>
            <a:endParaRPr lang="en-US" sz="1000" dirty="0">
              <a:latin typeface="Courier New" pitchFamily="49" charset="0"/>
              <a:cs typeface="Courier New" pitchFamily="49" charset="0"/>
            </a:endParaRP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# Copy from one LUN to another with data verification.</a:t>
            </a:r>
          </a:p>
          <a:p>
            <a:pPr marL="338138" lvl="1" indent="0">
              <a:buNone/>
            </a:pP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dsf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=${SRC_DEVICE} dsf1=${DST_DEVICE} length=${IO_LENGTH} 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iomode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=copy enable=</a:t>
            </a:r>
            <a:r>
              <a:rPr lang="en-US" sz="1100" b="1" dirty="0" err="1">
                <a:latin typeface="Courier New" pitchFamily="49" charset="0"/>
                <a:cs typeface="Courier New" pitchFamily="49" charset="0"/>
              </a:rPr>
              <a:t>compare,image</a:t>
            </a:r>
            <a:r>
              <a:rPr lang="en-US" sz="1100" b="1" dirty="0">
                <a:latin typeface="Courier New" pitchFamily="49" charset="0"/>
                <a:cs typeface="Courier New" pitchFamily="49" charset="0"/>
              </a:rPr>
              <a:t> emit=multi slices=10</a:t>
            </a:r>
          </a:p>
          <a:p>
            <a:pPr marL="338138" lvl="1" indent="0">
              <a:buNone/>
            </a:pPr>
            <a:r>
              <a:rPr lang="en-US" sz="1000" dirty="0"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 marL="338138" lvl="1" indent="0">
              <a:buNone/>
            </a:pPr>
            <a:endParaRPr lang="en-US" sz="10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66D8D-CF24-4F32-B52A-F923FF93BED1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5371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6452" y="1181101"/>
            <a:ext cx="9657347" cy="49031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Add more Inquiry, Log, and Mode pages.</a:t>
            </a:r>
          </a:p>
          <a:p>
            <a:r>
              <a:rPr lang="en-US" dirty="0"/>
              <a:t>Add firmware download and Format support.</a:t>
            </a:r>
          </a:p>
          <a:p>
            <a:r>
              <a:rPr lang="en-US" dirty="0"/>
              <a:t>Add JSON output format for other SCSI operations.</a:t>
            </a:r>
          </a:p>
          <a:p>
            <a:r>
              <a:rPr lang="en-US" dirty="0"/>
              <a:t>Add SCSI compliance verification.</a:t>
            </a:r>
          </a:p>
          <a:p>
            <a:r>
              <a:rPr lang="en-US" dirty="0"/>
              <a:t>Add support for Linux “</a:t>
            </a:r>
            <a:r>
              <a:rPr lang="en-US" dirty="0" err="1"/>
              <a:t>bsg</a:t>
            </a:r>
            <a:r>
              <a:rPr lang="en-US" dirty="0"/>
              <a:t>” SCSI interface.</a:t>
            </a:r>
          </a:p>
          <a:p>
            <a:r>
              <a:rPr lang="en-US" dirty="0"/>
              <a:t>Add support for multiple devices. (like </a:t>
            </a:r>
            <a:r>
              <a:rPr lang="en-US" dirty="0" err="1"/>
              <a:t>dt</a:t>
            </a:r>
            <a:r>
              <a:rPr lang="en-US" dirty="0"/>
              <a:t>)</a:t>
            </a:r>
          </a:p>
          <a:p>
            <a:r>
              <a:rPr lang="en-US" dirty="0"/>
              <a:t>Job Control for waiting on </a:t>
            </a:r>
            <a:r>
              <a:rPr lang="en-US" dirty="0" err="1"/>
              <a:t>Async</a:t>
            </a:r>
            <a:r>
              <a:rPr lang="en-US" dirty="0"/>
              <a:t> Threads. (like </a:t>
            </a:r>
            <a:r>
              <a:rPr lang="en-US" dirty="0" err="1"/>
              <a:t>dt</a:t>
            </a:r>
            <a:r>
              <a:rPr lang="en-US" dirty="0"/>
              <a:t>)</a:t>
            </a:r>
          </a:p>
          <a:p>
            <a:r>
              <a:rPr lang="en-US" dirty="0"/>
              <a:t>Add server/client message passing using </a:t>
            </a:r>
            <a:r>
              <a:rPr lang="en-US" dirty="0" err="1"/>
              <a:t>ZeroMQ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Note: </a:t>
            </a:r>
            <a:r>
              <a:rPr lang="en-US" b="1" dirty="0"/>
              <a:t>Not likely to be done now that I’m retired! </a:t>
            </a:r>
            <a:r>
              <a:rPr lang="en-US" b="1" dirty="0">
                <a:sym typeface="Wingdings" panose="05000000000000000000" pitchFamily="2" charset="2"/>
              </a:rPr>
              <a:t>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F66D8D-CF24-4F32-B52A-F923FF93BED1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spt TOI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340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17389</TotalTime>
  <Words>8842</Words>
  <Application>Microsoft Office PowerPoint</Application>
  <PresentationFormat>Widescreen</PresentationFormat>
  <Paragraphs>995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 SCSI Pass-Through (SPT) Update (TOI) by Robin T. Miller Robin.Miller@gmail.com</vt:lpstr>
      <vt:lpstr>Agenda</vt:lpstr>
      <vt:lpstr>Short History (mine, leading up to SPT)</vt:lpstr>
      <vt:lpstr>SCSI Pass-Through (SPT) Utility</vt:lpstr>
      <vt:lpstr>Why Use This SPT Tool?</vt:lpstr>
      <vt:lpstr>SPT Features</vt:lpstr>
      <vt:lpstr>SPT Command Format</vt:lpstr>
      <vt:lpstr>Send/Receive Diagnostic Support</vt:lpstr>
      <vt:lpstr>Diagnostic Page Codes/Names</vt:lpstr>
      <vt:lpstr>Storage Enclosure Services (SES) Pages</vt:lpstr>
      <vt:lpstr>Supported Diagnostic Pages</vt:lpstr>
      <vt:lpstr>SES Configuration Page (PP Enclosure)</vt:lpstr>
      <vt:lpstr>SES Configuration Page (JSON format)</vt:lpstr>
      <vt:lpstr>SES Element Descriptor Page with Debug</vt:lpstr>
      <vt:lpstr>Built-In Support for SCSI Commands</vt:lpstr>
      <vt:lpstr>Inquiry and Log Sense Pages</vt:lpstr>
      <vt:lpstr>Standard HGST Disk Inquiry (ASCII)</vt:lpstr>
      <vt:lpstr>Standard HGST Disk Inquiry (JSON)</vt:lpstr>
      <vt:lpstr>Acquiring HGST Full Firmware Version</vt:lpstr>
      <vt:lpstr>Showing SCSI Log Sense Page Code/Names</vt:lpstr>
      <vt:lpstr>Log Sense Protocol Specific Page</vt:lpstr>
      <vt:lpstr>SCSI Read Capacity (16) Example</vt:lpstr>
      <vt:lpstr>Showing SCSI Operation Codes</vt:lpstr>
      <vt:lpstr>Concurrent Testing of Multiple Devices</vt:lpstr>
      <vt:lpstr>Test Check Options</vt:lpstr>
      <vt:lpstr>Test Check Example</vt:lpstr>
      <vt:lpstr>Expect Options</vt:lpstr>
      <vt:lpstr>Expect Error Reporting</vt:lpstr>
      <vt:lpstr>Example SPT Script for SES Page Verification</vt:lpstr>
      <vt:lpstr>Unpack SCSI Data Options</vt:lpstr>
      <vt:lpstr>Emit Status Control Strings</vt:lpstr>
      <vt:lpstr>Example Emit Status Output</vt:lpstr>
      <vt:lpstr>Triage/Recovery Support</vt:lpstr>
      <vt:lpstr>Support for I/O Ranges</vt:lpstr>
      <vt:lpstr>Support for I/O Modes</vt:lpstr>
      <vt:lpstr>Support for Multiple Slices</vt:lpstr>
      <vt:lpstr>Support for Disruptive Testing</vt:lpstr>
      <vt:lpstr>Example of Forcing Command Timeouts</vt:lpstr>
      <vt:lpstr>Extended SCSI CDB Support</vt:lpstr>
      <vt:lpstr>Extended SCSI CDB Support (continued…)</vt:lpstr>
      <vt:lpstr>Enhanced Script File Support</vt:lpstr>
      <vt:lpstr>SPT Roadmap</vt:lpstr>
    </vt:vector>
  </TitlesOfParts>
  <Company>HGST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 v14 to v21 Overview by Robin T. Miller Robin.Miller@hgst.com</dc:title>
  <dc:creator>Robin Miller</dc:creator>
  <cp:lastModifiedBy>Robin Miller</cp:lastModifiedBy>
  <cp:revision>698</cp:revision>
  <dcterms:created xsi:type="dcterms:W3CDTF">2016-06-04T18:00:47Z</dcterms:created>
  <dcterms:modified xsi:type="dcterms:W3CDTF">2025-09-23T15:00:01Z</dcterms:modified>
</cp:coreProperties>
</file>